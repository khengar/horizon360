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vision. Horizon 360 CRM is a Universal Business Operating System unifying every department into one intelligent platform. Pause on each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landscape: Traditional CRMs handle contacts. Business suites bundle loosely. Enterprise platforms are complex. Horizon 360 is the first true Universal Business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comparison showing Horizon 360 as the only platform with native, full-featured coverage across all 10 capability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8-level architecture. Walk bottom to top: L1 captures interactions, L2 unifies data, L3 provides CRM core, L4 delivers business apps, L5 adds AI, L6 automates workflows, L7 provides analytics, L8 connects to the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 captures data from every external touchpoint: websites, mobile, email, WhatsApp, social, ads, e-commerce, ERP, POS, IoT, call centers, and third-party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 is the data refinery. Raw data flows through identity resolution to create unified 360 profiles across customers, employees, vendors, assets, and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3 is the Universal CRM Core. Every business object lives in one unified database. Every department accesses the same records, eliminating silos.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4 is the BIOM Ecosystem - 9 deeply integrated Business Integrated Operating Modules sharing data, workflows, and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BIOM: Visitor to Won pipeline with lead management, opportunity tracking, CPQ, AI forecasting, territory management, and guided selling playbooks.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BIOM: Full funnel from attract to convert with campaign management, journey builder, SEO, content studio, attribution, and A/B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BIOM: Complete service lifecycle with omnichannel support, AI ticketing, knowledge base, SLA engine, customer success, and field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Commerce BIOM: Product catalog to fulfillment with payments, subscription billing, inventory, tax compliance, and returns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Finance BIOM: Procurement to reporting with general ledger, AP/AR, budgeting, procurement, expenses, and AI financial forecasting.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HRMS BIOM: Full employee lifecycle with recruitment, onboarding, payroll, performance management, LMS, and attendance.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BIOM: Requirement to delivery with Agile boards, Gantt charts, resource allocation, milestones, time tracking, and client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 BIOM: channel management, deal registration, referrals, commissions, co-marketing. Vendor BIOM: procurement, contracts, invoices, supplier performance, spend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Cross-BIOM: Deal closes in Sales, triggers Finance (invoice), Project (delivery), HR (team), Service (success plan). Zero manual handoffs.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5: AI Intelligence Mesh. Five-stage cycle: Observe, Learn, Predict, Recommend, Automate.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specialized AI agents - Sales, Marketing, Service, Finance, HR, Project, Knowledge - unified under an Executive Copilot that provides cross-departmental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Five-stage AI decision cycle: Observe signals, Learn patterns with ML, Predict outcomes, Recommend actions, and Automate with human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6: Horizon Flow Engine. Seven-stage workflow: Trigger, Condition, Decision, Action, Approval, Notification,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Engine features: visual designer, approval engine, rules engine, SLA engine, event bus, AI triggers, marketplace, cross-BIOM automation, and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7: Horizon Intelligence Center for executive analytics and strategic decision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Command Center with real-time KPIs, department dashboards for CEO, Sales, Marketing, Finance, HR, and Service, plus the Business Health Score composite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 maturity: Descriptive (what happened), Diagnostic (why), Predictive (what will), Prescriptive (what should we do), Autonomous (system decides with oversight).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8: Horizon Nexus - Enterprise connectivity fabric connecting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ecosystem: API Gateway, Event Mesh, Data Transformation, Sync Engine with 500+ pre-built connectors including SAP, Oracle, Shopify, Stripe, Slack, Teams, and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end-to-end workflow: Visitor to Lead (Marketing) to Opportunity (Sales) to Customer (Commerce) to Revenue (Finance) to Delivery (Project) to Support (Service) to Retention to Advocate.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differentiators: Universal Platform, Single Data Model, AI-Native Architecture, Cross-BIOM Automation, Business Health Score, Enterprise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readiness: 99.99% uptime SLA, sub-50ms API latency, 10M+ records/sec throughput, SOC 2 Type II. Multi-tenant, GDPR/CCPA compliant, RBAC, SSO, end-to-end encryption.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deployment options: Cloud SaaS (recommended), Hybrid (regulated industries), On-Premises (high security). Four pricing tiers from Starter to Unlimited.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impact metrics: 40% faster sales cycles, 60% fewer manual tasks, 35% lower TCO, 25% higher retention, 3x faster reporting, 50% faster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13-week implementation: Phase 1 (Foundation), Phase 2 (Expansion), Phase 3 (Optimization), Phase 4 (Scale and continuous optimization).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success: dedicated CSM, 24/7 support, training academy, implementation services, developer community, strategic advisory. Certified SOC 2, ISO 27001, GDPR, HIPAA.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vision: Data drives Intelligence, which powers Operations, enabling Automation, informing Strategy, and accelerating Growth. Horizon 360 transforms disconnected software into intelligent, self-optimizing business operating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slide. Call to action: Request a Demo. Provide contact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0D2847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360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Business Operating System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2860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Everything.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Everything.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Everything.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Everything.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29000" y="434340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1A2E4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2900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  |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business runs on disconnected tools. Horizon 360 unifies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C3A5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deal tracking only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C3A5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Suite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apps, loosely integrated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C3A5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but complex &amp; costly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0D284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360 CRM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Department. Complete Intelligence.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0088C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536192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00A3B4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36192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32304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32304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28416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00CC8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28416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24528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24528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20640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EC4899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20640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16752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FFB800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016752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12864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0066C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12864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08976" y="3840480"/>
            <a:ext cx="804672" cy="320040"/>
          </a:xfrm>
          <a:prstGeom prst="roundRect">
            <a:avLst>
              <a:gd name="adj" fmla="val 22857"/>
            </a:avLst>
          </a:prstGeom>
          <a:solidFill>
            <a:srgbClr val="00AA8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08976" y="3840480"/>
            <a:ext cx="8046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HubSpot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Zoho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Salesforce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Horizon 360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ERP / Finance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Intelligence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Einstein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Engine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Analytics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Integrations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Data 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Universal Platform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8056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✓✓ = Native, Full-Featured    |    ✓ = Available    |    Partial = Limited    |    ✗ = Not Available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8-Level Intelligent Business Operating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777240"/>
            <a:ext cx="7772400" cy="438912"/>
          </a:xfrm>
          <a:prstGeom prst="roundRect">
            <a:avLst>
              <a:gd name="adj" fmla="val 20833"/>
            </a:avLst>
          </a:prstGeom>
          <a:solidFill>
            <a:srgbClr val="2D1B69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850392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50392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L8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85953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795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9966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Nexus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206240" y="11612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▲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54380" y="1307592"/>
            <a:ext cx="7635240" cy="438912"/>
          </a:xfrm>
          <a:prstGeom prst="roundRect">
            <a:avLst>
              <a:gd name="adj" fmla="val 20833"/>
            </a:avLst>
          </a:prstGeom>
          <a:solidFill>
            <a:srgbClr val="1B4D3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5820" y="1380744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5820" y="1380744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898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687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INTELLIGENCE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668780" y="1527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Center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206240" y="1691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▲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822960" y="1837944"/>
            <a:ext cx="7498080" cy="438912"/>
          </a:xfrm>
          <a:prstGeom prst="roundRect">
            <a:avLst>
              <a:gd name="adj" fmla="val 20833"/>
            </a:avLst>
          </a:prstGeom>
          <a:solidFill>
            <a:srgbClr val="4A2C2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4400" y="1911096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14400" y="1911096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37360" y="1856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737360" y="2057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Flow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206240" y="22219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▲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891540" y="2368296"/>
            <a:ext cx="7360920" cy="438912"/>
          </a:xfrm>
          <a:prstGeom prst="roundRect">
            <a:avLst>
              <a:gd name="adj" fmla="val 20833"/>
            </a:avLst>
          </a:prstGeom>
          <a:solidFill>
            <a:srgbClr val="1A3A5C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82980" y="2441448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982980" y="2441448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80" y="245059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805940" y="23865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805940" y="2587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Mesh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206240" y="27523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▲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960120" y="2898648"/>
            <a:ext cx="7223760" cy="438912"/>
          </a:xfrm>
          <a:prstGeom prst="roundRect">
            <a:avLst>
              <a:gd name="adj" fmla="val 20833"/>
            </a:avLst>
          </a:prstGeom>
          <a:solidFill>
            <a:srgbClr val="0D3B66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051560" y="2971800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1051560" y="2971800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9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2980944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874520" y="2916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 CLOUDS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874520" y="3118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 Ecosystem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4206240" y="32826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▲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1028700" y="3429000"/>
            <a:ext cx="7086600" cy="438912"/>
          </a:xfrm>
          <a:prstGeom prst="roundRect">
            <a:avLst>
              <a:gd name="adj" fmla="val 20833"/>
            </a:avLst>
          </a:prstGeom>
          <a:solidFill>
            <a:srgbClr val="005577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120140" y="3502152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1120140" y="3502152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9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340" y="3511296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943100" y="3447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CRM CORE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1943100" y="3648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4206240" y="38130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▲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1097280" y="3959352"/>
            <a:ext cx="6949440" cy="438912"/>
          </a:xfrm>
          <a:prstGeom prst="roundRect">
            <a:avLst>
              <a:gd name="adj" fmla="val 20833"/>
            </a:avLst>
          </a:prstGeom>
          <a:solidFill>
            <a:srgbClr val="006688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188720" y="4032504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0" name="Text 42"/>
          <p:cNvSpPr/>
          <p:nvPr/>
        </p:nvSpPr>
        <p:spPr>
          <a:xfrm>
            <a:off x="1188720" y="4032504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9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4041648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201168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PLATFORM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2011680" y="41788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Data Platform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4206240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▲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1165860" y="4489704"/>
            <a:ext cx="6812280" cy="438912"/>
          </a:xfrm>
          <a:prstGeom prst="roundRect">
            <a:avLst>
              <a:gd name="adj" fmla="val 20833"/>
            </a:avLst>
          </a:prstGeom>
          <a:solidFill>
            <a:srgbClr val="007799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257300" y="4562856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7" name="Text 48"/>
          <p:cNvSpPr/>
          <p:nvPr/>
        </p:nvSpPr>
        <p:spPr>
          <a:xfrm>
            <a:off x="1257300" y="4562856"/>
            <a:ext cx="36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900" dirty="0"/>
          </a:p>
        </p:txBody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4572000"/>
            <a:ext cx="274320" cy="27432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2080260" y="4507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ECOSYSTEM</a:t>
            </a:r>
            <a:endParaRPr lang="en-US" sz="1100" dirty="0"/>
          </a:p>
        </p:txBody>
      </p:sp>
      <p:sp>
        <p:nvSpPr>
          <p:cNvPr id="60" name="Text 50"/>
          <p:cNvSpPr/>
          <p:nvPr/>
        </p:nvSpPr>
        <p:spPr>
          <a:xfrm>
            <a:off x="208026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Capture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BUSINESS ECOSYSTEM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every interaction, event, signal, and transaction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360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Hub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9144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1005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18288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27432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803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3657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947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1828800" y="39319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40690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3200400" y="39319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406908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65760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Platforms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6858000" y="9144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1051560"/>
            <a:ext cx="320040" cy="3200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315200" y="1005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6858000" y="18288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1965960"/>
            <a:ext cx="320040" cy="32004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31520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Systems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6858000" y="27432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2880360"/>
            <a:ext cx="320040" cy="32004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31520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Systems</a:t>
            </a: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6858000" y="3657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3794760"/>
            <a:ext cx="320040" cy="32004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31520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Devices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5029200" y="39319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0640" y="4069080"/>
            <a:ext cx="320040" cy="32004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48640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</a:t>
            </a:r>
            <a:endParaRPr lang="en-US" sz="900" dirty="0"/>
          </a:p>
        </p:txBody>
      </p:sp>
      <p:sp>
        <p:nvSpPr>
          <p:cNvPr id="44" name="Shape 30"/>
          <p:cNvSpPr/>
          <p:nvPr/>
        </p:nvSpPr>
        <p:spPr>
          <a:xfrm>
            <a:off x="6400800" y="39319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4069080"/>
            <a:ext cx="320040" cy="32004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85800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business intelligence through unified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BBDEFB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90CAF9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64B5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42A5F5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488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2240280"/>
            <a:ext cx="365760" cy="3657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48840" y="21488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651760" y="2240280"/>
            <a:ext cx="365760" cy="3657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28600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1488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360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840480" y="21488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343400" y="2240280"/>
            <a:ext cx="365760" cy="3657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28600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84048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360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532120" y="21488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035040" y="2240280"/>
            <a:ext cx="365760" cy="3657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86000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321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360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223760" y="21488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726680" y="2240280"/>
            <a:ext cx="365760" cy="3657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28600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22376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360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57200" y="3291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54864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Tracking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548640" y="3566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2148840" y="3291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224028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2240280" y="3566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audiences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3840480" y="3291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8" name="Text 41"/>
          <p:cNvSpPr/>
          <p:nvPr/>
        </p:nvSpPr>
        <p:spPr>
          <a:xfrm>
            <a:off x="393192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3931920" y="3566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data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5532120" y="3291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1" name="Text 44"/>
          <p:cNvSpPr/>
          <p:nvPr/>
        </p:nvSpPr>
        <p:spPr>
          <a:xfrm>
            <a:off x="562356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5623560" y="3566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7223760" y="3291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4" name="Text 47"/>
          <p:cNvSpPr/>
          <p:nvPr/>
        </p:nvSpPr>
        <p:spPr>
          <a:xfrm>
            <a:off x="731520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Mgmt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7315200" y="3566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GDPR/CCPA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Text 5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BUSINESS INTELLIGENCE  -  Every record, event, and relationship unified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CRM CORE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record, multiple departments, single source of truth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2900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DATABASE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29000" y="2679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9144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88C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0" y="9144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A3B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86000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40480" y="82296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CC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40480" y="822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9144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0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9144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0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3832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CC660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0" y="33832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28600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840480" y="33832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88A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84048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33832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66880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66928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15200" y="33832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88660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31520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143000" y="1417320"/>
            <a:ext cx="0" cy="5943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2971800" y="1417320"/>
            <a:ext cx="0" cy="5943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4526280" y="1417320"/>
            <a:ext cx="0" cy="5943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6355080" y="1417320"/>
            <a:ext cx="0" cy="5943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8001000" y="1417320"/>
            <a:ext cx="0" cy="5943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1143000" y="2926080"/>
            <a:ext cx="0" cy="45720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2971800" y="2926080"/>
            <a:ext cx="0" cy="45720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4526280" y="2926080"/>
            <a:ext cx="0" cy="45720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6355080" y="2926080"/>
            <a:ext cx="0" cy="45720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8001000" y="2926080"/>
            <a:ext cx="0" cy="45720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</p:spPr>
      </p:sp>
      <p:sp>
        <p:nvSpPr>
          <p:cNvPr id="42" name="Text 39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objects are interconnected through a unified relational data model.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department accesses the same records - eliminating data silos.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 ECOSYSTEM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Integrated Operating Modules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907792"/>
            <a:ext cx="347472" cy="347472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97180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BIOM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0" y="28346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49040" y="2907792"/>
            <a:ext cx="347472" cy="347472"/>
          </a:xfrm>
          <a:prstGeom prst="ellipse">
            <a:avLst/>
          </a:prstGeom>
          <a:solidFill>
            <a:srgbClr val="00A3B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97180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BIOM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43600" y="28346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2907792"/>
            <a:ext cx="347472" cy="347472"/>
          </a:xfrm>
          <a:prstGeom prst="ellipse">
            <a:avLst/>
          </a:prstGeom>
          <a:solidFill>
            <a:srgbClr val="00CC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97180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BIOM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371600" y="34747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63040" y="3547872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36118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BIOM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0" y="34747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749040" y="3547872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8" y="3611880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6052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BIOM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943600" y="34747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035040" y="3547872"/>
            <a:ext cx="347472" cy="347472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361188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4652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HRMS BIOM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1371600" y="41148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1463040" y="4187952"/>
            <a:ext cx="347472" cy="347472"/>
          </a:xfrm>
          <a:prstGeom prst="ellipse">
            <a:avLst/>
          </a:prstGeom>
          <a:solidFill>
            <a:srgbClr val="0088A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7048" y="4251960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874520" y="4114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BIOM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3657600" y="41148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3749040" y="4187952"/>
            <a:ext cx="347472" cy="347472"/>
          </a:xfrm>
          <a:prstGeom prst="ellipse">
            <a:avLst/>
          </a:prstGeom>
          <a:solidFill>
            <a:srgbClr val="668800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3048" y="4251960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160520" y="4114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BIOM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5943600" y="41148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6035040" y="4187952"/>
            <a:ext cx="347472" cy="347472"/>
          </a:xfrm>
          <a:prstGeom prst="ellipse">
            <a:avLst/>
          </a:prstGeom>
          <a:solidFill>
            <a:srgbClr val="886600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9048" y="4251960"/>
            <a:ext cx="219456" cy="21945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446520" y="4114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BIOM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BIOM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opportunities into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BBDEFB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90CAF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64B5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0088CC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Scoring, routing, nurture automation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04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Tracking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5760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 with probability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465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CPQ Engine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4652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Configure-Price-Quote automation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5720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008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Forecasting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68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revenue prediction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4612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00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576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Territory Mgmt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65760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and segment-based assignment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603504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Playbooks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4652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selling best practices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BIOM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Attract, engage, and qualify at scale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C88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C88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A5D6A7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C88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81C78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C88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66BB6A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Mgmt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campaign orchestration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04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Builder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5760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automation flow designer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465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Hub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4652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and content optimization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5720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008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Studio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68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schedule, and publish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4612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00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576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65760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Multi-touch revenue attribution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603504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4652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every customer touchpoint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BIOM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faster, retain longer, delight always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FEBE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FCDD2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F9A9A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F535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Support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chat, phone, social in one inbox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04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Ticketing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5760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auto-classify, prioritize, and route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465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4652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portal with AI search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5720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008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Engine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68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escalation and tracking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4612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00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576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65760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scores and churn prediction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603504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Service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4652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and mobile workforce mgmt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BIOM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commerce from catalog to fulfillment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FE0B2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FCC80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FB74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Variants, pricing, bundles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04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5760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Stripe, PayPal, bank transfers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465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Billing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4652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automation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5720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008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Mgmt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68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stock tracking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4612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00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576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Engine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65760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Multi-jurisdiction compliance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603504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&amp; Refunds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4652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RMA workflow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BIOM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financial operations and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DE7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D1C4E9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B39DDB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9575C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Ledger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Double-entry with auto-reconciliation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04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/ AR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5760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Payables and receivables automation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465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Budgeting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4652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Department-level budget tracking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5720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008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68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orders and vendor mgmt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4612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00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576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Mgmt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65760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expense reporting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603504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Forecast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4652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revenue projections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BIOM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Hire, develop, and retain top talent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CE4E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4899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8BBD0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4899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48FB1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4899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C407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4899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ATS, job postings, candidate pipeline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04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5760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workflows and docs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465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4652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salary processing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5720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008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68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OKRs, reviews, 360 feedback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4612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00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576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(LMS)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65760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paths and certifications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603504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4652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tracking, leave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BIOM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execute, and deliver on time and on budget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3B4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B2DFDB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3B4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80CBC4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3B4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4DB6A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3B4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00A3B4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Boards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Kanban, Scrum, custom workflows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04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Charts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5760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timeline with dependencies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465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4652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 across teams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5720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008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68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 tracking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324612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00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576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65760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hours and utilization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6035040" y="2880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46520" y="3154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collaboration and approvals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&amp; VENDOR BIOMs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your ecosystem and optimize your supply chain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BIOM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Onboarding &amp; Certification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7568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Registration &amp; Pipeline Sharing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5973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Tracking &amp; Attribution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43784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2798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Management &amp; Payouts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27832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Revenue Analytics</a:t>
            </a:r>
            <a:endParaRPr lang="en-US" sz="9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11880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Co-Marketing Campaign Tools</a:t>
            </a:r>
            <a:endParaRPr lang="en-US" sz="900" dirty="0"/>
          </a:p>
        </p:txBody>
      </p:sp>
      <p:sp>
        <p:nvSpPr>
          <p:cNvPr id="21" name="Shape 12"/>
          <p:cNvSpPr/>
          <p:nvPr/>
        </p:nvSpPr>
        <p:spPr>
          <a:xfrm>
            <a:off x="4754880" y="10058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09728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949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BIOM</a:t>
            </a:r>
            <a:endParaRPr lang="en-US" sz="14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1691640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035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Onboarding &amp; Compliance</a:t>
            </a:r>
            <a:endParaRPr lang="en-US" sz="9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075688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0352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&amp; Purchase Orders</a:t>
            </a:r>
            <a:endParaRPr lang="en-US" sz="9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459736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30352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Lifecycle Management</a:t>
            </a:r>
            <a:endParaRPr lang="en-US" sz="9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2843784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03520" y="2798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Processing &amp; Matching</a:t>
            </a:r>
            <a:endParaRPr lang="en-US" sz="9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227832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30352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Performance Scoring</a:t>
            </a:r>
            <a:endParaRPr lang="en-US" sz="9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611880"/>
            <a:ext cx="182880" cy="18288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3035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Analytics &amp; Optimization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CROSS-BIOM COLLABORATION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BIOM acts, others respond automatically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0088C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698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87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BIOM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80160" y="1252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Won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4592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173736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4708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BIOM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28016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Generated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64592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251460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00A3B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2432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BIOM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280160" y="2807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Created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64592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" y="329184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EC489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0156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HRMS BIOM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28016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Assigned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645920" y="3840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1520" y="406908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00CC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78808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BIOM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280160" y="4361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Plan Activated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3931920" y="960120"/>
            <a:ext cx="4754880" cy="3840480"/>
          </a:xfrm>
          <a:prstGeom prst="roundRect">
            <a:avLst>
              <a:gd name="adj" fmla="val 2381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4114800" y="1097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BUSINESS ORCHESTRATION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11480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deal closes, Horizon 360 automatically orchestrates across every department: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2011680"/>
            <a:ext cx="164592" cy="1645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48056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generates the invoice and updates revenue</a:t>
            </a:r>
            <a:endParaRPr lang="en-US" sz="9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2395728"/>
            <a:ext cx="164592" cy="16459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480560" y="2350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module creates delivery milestones</a:t>
            </a:r>
            <a:endParaRPr lang="en-US" sz="9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2779776"/>
            <a:ext cx="164592" cy="16459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480560" y="27340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assigns team based on skill matching</a:t>
            </a:r>
            <a:endParaRPr lang="en-US" sz="9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3163824"/>
            <a:ext cx="164592" cy="16459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4480560" y="31181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creates a customer success plan</a:t>
            </a:r>
            <a:endParaRPr lang="en-US" sz="9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240" y="3547872"/>
            <a:ext cx="164592" cy="16459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480560" y="3502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updates executive dashboards in real-time</a:t>
            </a:r>
            <a:endParaRPr lang="en-US" sz="9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6240" y="3931920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48056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adjusts forecasts and resource allocation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4114800" y="4206240"/>
            <a:ext cx="4389120" cy="411480"/>
          </a:xfrm>
          <a:prstGeom prst="roundRect">
            <a:avLst>
              <a:gd name="adj" fmla="val 22222"/>
            </a:avLst>
          </a:prstGeom>
          <a:solidFill>
            <a:srgbClr val="0D284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6" name="Text 33"/>
          <p:cNvSpPr/>
          <p:nvPr/>
        </p:nvSpPr>
        <p:spPr>
          <a:xfrm>
            <a:off x="4114800" y="4206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handoffs. Zero data re-entry. 100% automated.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INTELLIGENCE MESH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Business Decision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3291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32004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32004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3291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32004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2004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0D4F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agents with a unified Executive Copilot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05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COPILOT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97280" y="1828800"/>
            <a:ext cx="0" cy="3657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240280" y="1828800"/>
            <a:ext cx="0" cy="3657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383280" y="1828800"/>
            <a:ext cx="0" cy="3657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4526280" y="1828800"/>
            <a:ext cx="0" cy="3657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669280" y="1828800"/>
            <a:ext cx="0" cy="3657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812280" y="1828800"/>
            <a:ext cx="0" cy="3657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7955280" y="1828800"/>
            <a:ext cx="0" cy="365760"/>
          </a:xfrm>
          <a:prstGeom prst="line">
            <a:avLst/>
          </a:prstGeom>
          <a:noFill/>
          <a:ln w="12700">
            <a:solidFill>
              <a:srgbClr val="B0C4D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20040" y="219456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0088C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0040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527048" y="219456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00A3B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527048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34056" y="219456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00CC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734056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941064" y="219456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941064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48072" y="219456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EC489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148072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55080" y="219456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0088A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55080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562088" y="219456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562088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3152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queries across all business data</a:t>
            </a:r>
            <a:endParaRPr lang="en-US" sz="9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429000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98348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and anomaly detection</a:t>
            </a:r>
            <a:endParaRPr lang="en-US" sz="9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152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task execution and workflow triggers</a:t>
            </a:r>
            <a:endParaRPr lang="en-US" sz="9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84048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98348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recommendations per department</a:t>
            </a:r>
            <a:endParaRPr lang="en-US" sz="9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51960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3152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Cross-BIOM intelligence correlation</a:t>
            </a:r>
            <a:endParaRPr lang="en-US" sz="9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51960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98348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from business outcomes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INTELLIGENCE 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9601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9601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822960"/>
            <a:ext cx="6217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real-time signals from every BIOM, touchpoint, and data 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BBDE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783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1645920"/>
            <a:ext cx="6217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ML models to identify patterns, correlations, and anomalies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90CA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6060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468880"/>
            <a:ext cx="6217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outcomes, risks, and opportunities across all departments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64B5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429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291840"/>
            <a:ext cx="6217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actionable insights to the right person at the right 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088C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2519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114800"/>
            <a:ext cx="6217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decisions autonomously with human-in-the-loop guardrails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FLOW ENGINE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Workflow Automation at Scale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947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0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609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00CC88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CAPABILITIES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any business process with intelligent orchestration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515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 Designer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1280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flow builder for any process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1556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10515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Engine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0" y="1280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approvals with delegation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1556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10515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446520" y="1280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business logic without code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5720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0136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1737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Engine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68680" y="1965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escalation and compliance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24612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80136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57600" y="1737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657600" y="1965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event-driven architecture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603504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801368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46520" y="1737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AI-Triggered Flows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446520" y="1965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 initiate automated workflows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457200" y="23774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487168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6868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Marketplace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868680" y="2651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templates for common processes</a:t>
            </a:r>
            <a:endParaRPr lang="en-US" sz="800" dirty="0"/>
          </a:p>
        </p:txBody>
      </p:sp>
      <p:sp>
        <p:nvSpPr>
          <p:cNvPr id="34" name="Shape 25"/>
          <p:cNvSpPr/>
          <p:nvPr/>
        </p:nvSpPr>
        <p:spPr>
          <a:xfrm>
            <a:off x="3246120" y="23774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2487168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5760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Cross-BIOM Automation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3657600" y="2651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spanning multiple departments</a:t>
            </a:r>
            <a:endParaRPr lang="en-US" sz="800" dirty="0"/>
          </a:p>
        </p:txBody>
      </p:sp>
      <p:sp>
        <p:nvSpPr>
          <p:cNvPr id="38" name="Shape 28"/>
          <p:cNvSpPr/>
          <p:nvPr/>
        </p:nvSpPr>
        <p:spPr>
          <a:xfrm>
            <a:off x="6035040" y="23774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487168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44652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6446520" y="2651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history of every automation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3" name="Text 32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Employee Onboarding Workflow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640080" y="37490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64008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800" dirty="0"/>
          </a:p>
        </p:txBody>
      </p:sp>
      <p:sp>
        <p:nvSpPr>
          <p:cNvPr id="46" name="Text 35"/>
          <p:cNvSpPr/>
          <p:nvPr/>
        </p:nvSpPr>
        <p:spPr>
          <a:xfrm>
            <a:off x="173736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8CC"/>
                </a:solidFill>
              </a:rPr>
              <a:t>▶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1965960" y="37490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8" name="Text 37"/>
          <p:cNvSpPr/>
          <p:nvPr/>
        </p:nvSpPr>
        <p:spPr>
          <a:xfrm>
            <a:off x="196596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Notified</a:t>
            </a:r>
            <a:endParaRPr lang="en-US" sz="800" dirty="0"/>
          </a:p>
        </p:txBody>
      </p:sp>
      <p:sp>
        <p:nvSpPr>
          <p:cNvPr id="49" name="Text 38"/>
          <p:cNvSpPr/>
          <p:nvPr/>
        </p:nvSpPr>
        <p:spPr>
          <a:xfrm>
            <a:off x="306324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8CC"/>
                </a:solidFill>
              </a:rPr>
              <a:t>▶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3291840" y="37490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1" name="Text 40"/>
          <p:cNvSpPr/>
          <p:nvPr/>
        </p:nvSpPr>
        <p:spPr>
          <a:xfrm>
            <a:off x="329184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Assets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</a:t>
            </a:r>
            <a:endParaRPr lang="en-US" sz="800" dirty="0"/>
          </a:p>
        </p:txBody>
      </p:sp>
      <p:sp>
        <p:nvSpPr>
          <p:cNvPr id="52" name="Text 41"/>
          <p:cNvSpPr/>
          <p:nvPr/>
        </p:nvSpPr>
        <p:spPr>
          <a:xfrm>
            <a:off x="43891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8CC"/>
                </a:solidFill>
              </a:rPr>
              <a:t>▶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4617720" y="37490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4" name="Text 43"/>
          <p:cNvSpPr/>
          <p:nvPr/>
        </p:nvSpPr>
        <p:spPr>
          <a:xfrm>
            <a:off x="461772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</a:t>
            </a:r>
            <a:endParaRPr lang="en-US" sz="800" dirty="0"/>
          </a:p>
        </p:txBody>
      </p:sp>
      <p:sp>
        <p:nvSpPr>
          <p:cNvPr id="55" name="Text 44"/>
          <p:cNvSpPr/>
          <p:nvPr/>
        </p:nvSpPr>
        <p:spPr>
          <a:xfrm>
            <a:off x="57150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8CC"/>
                </a:solidFill>
              </a:rPr>
              <a:t>▶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5943600" y="37490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7" name="Text 46"/>
          <p:cNvSpPr/>
          <p:nvPr/>
        </p:nvSpPr>
        <p:spPr>
          <a:xfrm>
            <a:off x="594360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70408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8CC"/>
                </a:solidFill>
              </a:rPr>
              <a:t>▶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7269480" y="37490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00CC8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60" name="Text 49"/>
          <p:cNvSpPr/>
          <p:nvPr/>
        </p:nvSpPr>
        <p:spPr>
          <a:xfrm>
            <a:off x="726948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INTELLIGENCE CENTER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Analytics &amp; Strategic Decision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COMMAND CENTER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640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$12.4M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5943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640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84832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$28.7M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84832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03904" y="5943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640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03904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22976" y="5943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22976" y="640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Score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22976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22976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42048" y="5943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42048" y="640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42048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42048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3736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1874520"/>
            <a:ext cx="320040" cy="3200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2084832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Health Score, revenue trends, strategic KPIs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173736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0128" y="1874520"/>
            <a:ext cx="320040" cy="32004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03320" y="2084832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velocity, rep performance, forecast accuracy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173736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1874520"/>
            <a:ext cx="320040" cy="320040"/>
          </a:xfrm>
          <a:prstGeom prst="ellipse">
            <a:avLst/>
          </a:prstGeom>
          <a:solidFill>
            <a:srgbClr val="00A3B4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2084832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ROI, lead flow, attribution, MQL conversion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278892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" y="29260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Dashboard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3136392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flow, burn rate, budget variance, P&amp;L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0" y="278892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10128" y="292608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>
          <a:xfrm>
            <a:off x="370332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Dashboard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03320" y="3136392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Headcount, attrition, hiring funnel, engagement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278892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2926080"/>
            <a:ext cx="320040" cy="320040"/>
          </a:xfrm>
          <a:prstGeom prst="ellipse">
            <a:avLst/>
          </a:prstGeom>
          <a:solidFill>
            <a:srgbClr val="00CC88"/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Dashboard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37960" y="3136392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CSAT, resolution time, ticket volume, SLA compliance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38862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D284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HEALTH SCORE™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composite metric combining revenue health, customer satisfaction, operational efficiency,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engagement, and financial stability into one executive-level indicator.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5800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4400" dirty="0"/>
          </a:p>
        </p:txBody>
      </p:sp>
      <p:sp>
        <p:nvSpPr>
          <p:cNvPr id="53" name="Text 51"/>
          <p:cNvSpPr/>
          <p:nvPr/>
        </p:nvSpPr>
        <p:spPr>
          <a:xfrm>
            <a:off x="768096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MATURITY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reporting to autonomous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972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051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051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reports, dashboards, KPI tracking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BBDE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745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it happen?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analysis, drill-downs, correlation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90C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651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happen?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forecasting, trend analysis, risk scoring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64B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429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 do?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models, scenario planning, recommendations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088C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206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system decide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Self-optimizing operations with human oversight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NEXUS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Everything. Synchronize Everything. Orchestrate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connectivity fabric with universal connectors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088C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527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&amp; GraphQL APIs with rate limiting, authentication, and versioning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0A3B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Mesh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8928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event streaming with pub/sub architecture and guaranteed delivery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0CC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532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ETL/ELT pipelines with schema mapping, validation, and enrichment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72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Bi-directional real-time synchronization with conflict resolution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MARKETPLACE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50876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72200" y="150876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06640" y="150876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QuickBooks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194767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947672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72200" y="194767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1947672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06640" y="194767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1947672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37760" y="2386584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2386584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72200" y="2386584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72200" y="2386584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06640" y="2386584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06640" y="2386584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2825496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2825496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72200" y="2825496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72200" y="2825496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06640" y="2825496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06640" y="2825496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0" y="32644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937760" y="3264408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72200" y="32644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172200" y="3264408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06640" y="32644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406640" y="3264408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937760" y="37033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937760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72200" y="37033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172200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06640" y="37033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406640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PRE-BUILT CONNECTORS  |  CUSTOM API BUILDER  |  WEBHOOK SUPPORT  |  iPaaS COMPATIBLE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BUSINESS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customer lifecycle powered by every BIOM and every level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779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External Ecosystem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188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8686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A3B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BIOM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1188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88C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BIOM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6B3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BIOM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63240" y="2606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37560" y="2834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BIOM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2606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88A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2834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BIOM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CC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4251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BIOM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63240" y="4023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37560" y="37033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C489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3756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337560" y="4251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023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37033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66880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1792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217920" y="4251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BIOM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HORIZON 360?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differentiators that set us apart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115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Platform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+ ERP + HRMS + Commerce + AI in one unified system. No more integration nightmares.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188720"/>
            <a:ext cx="502920" cy="502920"/>
          </a:xfrm>
          <a:prstGeom prst="ellipse">
            <a:avLst/>
          </a:prstGeom>
          <a:solidFill>
            <a:srgbClr val="00A3B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115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Model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3212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database, one truth. Every department sees the same customer, the same deal, the same data.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350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Architecture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280160" y="265176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bolted on - it's built into every workflow, every decision, every interaction.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09160" y="22402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423160"/>
            <a:ext cx="502920" cy="502920"/>
          </a:xfrm>
          <a:prstGeom prst="ellipse">
            <a:avLst/>
          </a:prstGeom>
          <a:solidFill>
            <a:srgbClr val="00CC8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146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2350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Cross-BIOM Automation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532120" y="265176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Sales closes, Finance invoices, Projects start, HR assigns - automatically.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904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8016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Health Score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28016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metric that combines revenue, satisfaction, efficiency, and growth into executive clarity.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709160" y="3474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36576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4904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3212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53212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global enterprises: multi-currency, multi-language, multi-tenant, SOC 2 compliant.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scale, security, and global 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availability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edge network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Records/Sec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throughput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0372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783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certified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24328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868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8680" y="27889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data with shared infrastructure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46120" y="25146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624328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65760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Data Residency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657600" y="27889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where your data lives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035040" y="25146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24328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4652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&amp; CCPA Compliance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446520" y="27889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privacy and consent tools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457200" y="32004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10128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868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(RBAC)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86868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permissions per user/role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3246120" y="32004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10128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65760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&amp; MFA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65760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identity integration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035040" y="32004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310128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446520" y="3246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44652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at rest, TLS 1.3 in transit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097280"/>
            <a:ext cx="731520" cy="73152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(SaaS)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managed, auto-scaling, zero maintenance. Best for most organizations.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9144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097280"/>
            <a:ext cx="731520" cy="731520"/>
          </a:xfrm>
          <a:prstGeom prst="ellipse">
            <a:avLst/>
          </a:prstGeom>
          <a:solidFill>
            <a:srgbClr val="00A3B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on-premises with cloud compute. For regulated industries.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26480" y="9144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0" y="10972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344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control over infrastructure and data. For high-security environments.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00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CRM + 2 BIOMs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974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6974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CRM + 5 BIOMs + AI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548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548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BIOMs + Advanced AI + Custom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8122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8122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+ Dedicated Support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ROI from day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Sales Cycles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pipeline acceleration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Manual 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Cross-BIOM workflow automation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vs. 8+ point solutions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Retention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customer success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7432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329184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Reporting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unified analytics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12648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system for all departments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463040" cy="0"/>
          </a:xfrm>
          <a:prstGeom prst="line">
            <a:avLst/>
          </a:prstGeom>
          <a:noFill/>
          <a:ln w="6350">
            <a:solidFill>
              <a:srgbClr val="B0C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Core setup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provisioning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workflows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BBDEFB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2011680"/>
            <a:ext cx="1463040" cy="0"/>
          </a:xfrm>
          <a:prstGeom prst="line">
            <a:avLst/>
          </a:prstGeom>
          <a:noFill/>
          <a:ln w="6350">
            <a:solidFill>
              <a:srgbClr val="B0C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 activation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configuration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setup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90CAF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2011680"/>
            <a:ext cx="1463040" cy="0"/>
          </a:xfrm>
          <a:prstGeom prst="line">
            <a:avLst/>
          </a:prstGeom>
          <a:noFill/>
          <a:ln w="6350">
            <a:solidFill>
              <a:srgbClr val="B0C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automation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analytics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training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tuning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08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8CC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91440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0088CC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13+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944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2011680"/>
            <a:ext cx="1463040" cy="0"/>
          </a:xfrm>
          <a:prstGeom prst="line">
            <a:avLst/>
          </a:prstGeom>
          <a:noFill/>
          <a:ln w="6350">
            <a:solidFill>
              <a:srgbClr val="AABB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deployment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rollout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review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241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60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Success Manager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1188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CSM for strategic guidance and quarterly business reviews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2412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960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Enterprise Support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120640" y="1188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Phone, chat, and email support with guaranteed SLA response times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" y="16002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099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1645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Academy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6868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training, certifications, and role-based learning paths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709160" y="16002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0992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20640" y="1645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Services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12064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Expert-led onboarding, data migration, and custom configuration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457200" y="22860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39572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86868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documentation, SDKs, forums, and developer ecosystem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4709160" y="22860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95728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2064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Advisory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512064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consulting and platform optimization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ENTERPRISES WORLDWIDE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40080" y="37947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64008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II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2286000" y="37947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228600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3931920" y="37947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393192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Ready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577840" y="37947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557784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Eligible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7223760" y="37947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A2E4A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722376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Uptime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52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360 CRM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Business Operating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19202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2011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19202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2011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19202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8328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2011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9202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2011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9202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2648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2011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98080" y="19202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00D4F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9808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4400" y="2743200"/>
            <a:ext cx="7315200" cy="1554480"/>
          </a:xfrm>
          <a:prstGeom prst="roundRect">
            <a:avLst>
              <a:gd name="adj" fmla="val 5882"/>
            </a:avLst>
          </a:prstGeom>
          <a:solidFill>
            <a:srgbClr val="0D284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371600" y="28346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360 CRM transforms organizations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disconnected software ecosystems into
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self-optimizing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operating systems.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0D284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business?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92608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www.horizon360crm.com  |  contact@horizon360crm.com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4206240"/>
            <a:ext cx="2743200" cy="365760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360 CRM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360 CRM - The Universal Business Operating System</dc:title>
  <dc:subject>PptxGenJS Presentation</dc:subject>
  <dc:creator>Horizon 360 CRM</dc:creator>
  <cp:lastModifiedBy>Horizon 360 CRM</cp:lastModifiedBy>
  <cp:revision>1</cp:revision>
  <dcterms:created xsi:type="dcterms:W3CDTF">2026-06-18T19:37:10Z</dcterms:created>
  <dcterms:modified xsi:type="dcterms:W3CDTF">2026-06-18T19:37:10Z</dcterms:modified>
</cp:coreProperties>
</file>