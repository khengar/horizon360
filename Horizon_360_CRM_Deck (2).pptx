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55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vision. Horizon 360 CRM is a Universal Business Operating System unifying every department into one intelligent platform. Pause on each tagline.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landscape: Traditional CRMs handle contacts. Business suites bundle loosely. Enterprise platforms are complex. Horizon 360 is the first true Universal Business Operating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comparison showing Horizon 360 as the only platform with native, full-featured coverage across all 10 capability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8-level architecture. Walk bottom to top: L1 captures interactions, L2 unifies data, L3 provides CRM core, L4 delivers business apps, L5 adds AI, L6 automates workflows, L7 provides analytics, L8 connects to the enterprise.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1 captures data from every external touchpoint: websites, mobile, email, WhatsApp, social, ads, e-commerce, ERP, POS, IoT, call centers, and third-party apps.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2 is the data refinery. Raw data flows through identity resolution to create unified 360 profiles across customers, employees, vendors, assets, and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3 is the Universal CRM Core. Every business object lives in one unified database. Every department accesses the same records, eliminating silos.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4 is the BIOM Ecosystem - 9 deeply integrated Business Integrated Operating Modules sharing data, workflows, and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 BIOM: Visitor to Won pipeline with lead management, opportunity tracking, CPQ, AI forecasting, territory management, and guided selling playbooks.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BIOM: Full funnel from attract to convert with campaign management, journey builder, SEO, content studio, attribution, and A/B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BIOM: Complete service lifecycle with omnichannel support, AI ticketing, knowledge base, SLA engine, customer success, and field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Commerce BIOM: Product catalog to fulfillment with payments, subscription billing, inventory, tax compliance, and returns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Finance BIOM: Procurement to reporting with general ledger, AP/AR, budgeting, procurement, expenses, and AI financial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HRMS BIOM: Full employee lifecycle with recruitment, onboarding, payroll, performance management, LMS, and attendance.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BIOM: Requirement to delivery with Agile boards, Gantt charts, resource allocation, milestones, time tracking, and client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BIOM: channel management, deal registration, referrals, commissions, co-marketing. Vendor BIOM: procurement, contracts, invoices, supplier performance, spend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Cross-BIOM: Deal closes in Sales, triggers Finance (invoice), Project (delivery), HR (team), Service (success plan). Zero manual handoffs.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5: AI Intelligence Mesh. Five-stage cycle: Observe, Learn, Predict, Recommend, Automate.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specialized AI agents - Sales, Marketing, Service, Finance, HR, Project, Knowledge - unified under an Executive Copilot that provides cross-departmental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Five-stage AI decision cycle: Observe signals, Learn patterns with ML, Predict outcomes, Recommend actions, and Automate with human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6: Horizon Flow Engine. Seven-stage workflow: Trigger, Condition, Decision, Action, Approval, Notification, Completion.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Engine features: visual designer, approval engine, rules engine, SLA engine, event bus, AI triggers, marketplace, cross-BIOM automation, and full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7: Horizon Intelligence Center for executive analytics and strategic decision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Command Center with real-time KPIs, department dashboards for CEO, Sales, Marketing, Finance, HR, and Service, plus the Business Health Score composite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 maturity: Descriptive (what happened), Diagnostic (why), Predictive (what will), Prescriptive (what should we do), Autonomous (system decides with oversight).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8: Horizon Nexus - Enterprise connectivity fabric connecting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 ecosystem: API Gateway, Event Mesh, Data Transformation, Sync Engine with 500+ pre-built connectors including SAP, Oracle, Shopify, Stripe, Slack, Teams, and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end-to-end workflow: Visitor to Lead (Marketing) to Opportunity (Sales) to Customer (Commerce) to Revenue (Finance) to Delivery (Project) to Support (Service) to Retention to Advocate.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key differentiators: Universal Platform, Single Data Model, AI-Native Architecture, Cross-BIOM Automation, Business Health Score, Enterprise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readiness: 99.99% uptime SLA, sub-50ms API latency, 10M+ records/sec throughput, SOC 2 Type II. Multi-tenant, GDPR/CCPA compliant, RBAC, SSO, end-to-end encryption.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deployment options: Cloud SaaS (recommended), Hybrid (regulated industries), On-Premises (high security). Four pricing tiers from Starter to Unlimited.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impact metrics: 40% faster sales cycles, 60% fewer manual tasks, 35% lower TCO, 25% higher retention, 3x faster reporting, 50% faster onboarding.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13-week implementation: Phase 1 (Foundation), Phase 2 (Expansion), Phase 3 (Optimization), Phase 4 (Scale and continuous optimization).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success: dedicated CSM, 24/7 support, training academy, implementation services, developer community, strategic advisory. Certified SOC 2, ISO 27001, GDPR, HIPAA.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vision: Data drives Intelligence, which powers Operations, enabling Automation, informing Strategy, and accelerating Growth. Horizon 360 transforms disconnected software into intelligent, self-optimizing business operating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slide. Call to action: Request a Demo. Provide contact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3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457200"/>
            <a:ext cx="4572000" cy="4114800"/>
          </a:xfrm>
          <a:prstGeom prst="ellipse">
            <a:avLst/>
          </a:prstGeom>
          <a:solidFill>
            <a:srgbClr val="0D2847">
              <a:alpha val="4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360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12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37160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3F2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Universal Business Operating System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28600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Everything.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86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Everything.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Everything.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Everything.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29000" y="4343400"/>
            <a:ext cx="2286000" cy="320040"/>
          </a:xfrm>
          <a:prstGeom prst="roundRect">
            <a:avLst>
              <a:gd name="adj" fmla="val 28571"/>
            </a:avLst>
          </a:prstGeom>
          <a:solidFill>
            <a:srgbClr val="1A2E4A"/>
          </a:solidFill>
          <a:ln w="12700">
            <a:solidFill>
              <a:srgbClr val="00D4FF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290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2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PLATFORM  | 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business runs on disconnected tools. Horizon 360 unifies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1C3A5E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HubSpot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&amp; deal tracking only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1C3A5E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Suite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4612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Bundled apps, loosely integrated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1C3A5E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Platform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645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0" y="20116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Powerful but complex &amp; costly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0" y="2606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FF"/>
                </a:solidFill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0D2847"/>
          </a:solidFill>
          <a:ln w="12700">
            <a:solidFill>
              <a:srgbClr val="00D4FF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063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360 CRM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Every Department. Complete Intelligence.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0088CC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536192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00A3B4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36192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432304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7C3AE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432304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HRMS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28416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00CC8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28416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4528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FF6B35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4528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20640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EC4899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120640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16752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FFB800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16752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912864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0066CC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912864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08976" y="3840480"/>
            <a:ext cx="804672" cy="320040"/>
          </a:xfrm>
          <a:prstGeom prst="roundRect">
            <a:avLst>
              <a:gd name="adj" fmla="val 22857"/>
            </a:avLst>
          </a:prstGeom>
          <a:solidFill>
            <a:srgbClr val="00AA8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808976" y="3840480"/>
            <a:ext cx="804672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POSITIONING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HubSpot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Zoho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Salesforce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Horizon 360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ERP / Finance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Add-on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Commerce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Add-on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Intelligence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Einstein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 Engine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Analytics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Tableau+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Integrations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Data Model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Universal Platform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CC8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48056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0F9F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✓✓ = Native, Full-Featured    |    ✓ = Available    |    Partial = Limited    |    ✗ = Not Available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8-Level Intelligent Business Operating System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777240"/>
            <a:ext cx="7772400" cy="438912"/>
          </a:xfrm>
          <a:prstGeom prst="roundRect">
            <a:avLst>
              <a:gd name="adj" fmla="val 20833"/>
            </a:avLst>
          </a:prstGeom>
          <a:solidFill>
            <a:srgbClr val="2D1B69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850392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850392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L8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859536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795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600200" y="9966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Nexus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206240" y="11612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54380" y="1307592"/>
            <a:ext cx="7635240" cy="438912"/>
          </a:xfrm>
          <a:prstGeom prst="roundRect">
            <a:avLst>
              <a:gd name="adj" fmla="val 20833"/>
            </a:avLst>
          </a:prstGeom>
          <a:solidFill>
            <a:srgbClr val="1B4D3E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5820" y="1380744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5820" y="1380744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</a:t>
            </a:r>
            <a:endParaRPr lang="en-US" sz="9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20" y="1389888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6878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INTELLIGENCE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668780" y="1527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Center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206240" y="16916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822960" y="1837944"/>
            <a:ext cx="7498080" cy="438912"/>
          </a:xfrm>
          <a:prstGeom prst="roundRect">
            <a:avLst>
              <a:gd name="adj" fmla="val 20833"/>
            </a:avLst>
          </a:prstGeom>
          <a:solidFill>
            <a:srgbClr val="4A2C2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14400" y="1911096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914400" y="1911096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9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92024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737360" y="18562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ENGINE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1737360" y="2057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Flow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206240" y="222199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891540" y="2368296"/>
            <a:ext cx="7360920" cy="438912"/>
          </a:xfrm>
          <a:prstGeom prst="roundRect">
            <a:avLst>
              <a:gd name="adj" fmla="val 20833"/>
            </a:avLst>
          </a:prstGeom>
          <a:solidFill>
            <a:srgbClr val="1A3A5C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82980" y="2441448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982980" y="2441448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9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0180" y="2450592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805940" y="23865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ORCHESTRATOR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1805940" y="25877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Mesh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4206240" y="275234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960120" y="2898648"/>
            <a:ext cx="7223760" cy="438912"/>
          </a:xfrm>
          <a:prstGeom prst="roundRect">
            <a:avLst>
              <a:gd name="adj" fmla="val 20833"/>
            </a:avLst>
          </a:prstGeom>
          <a:solidFill>
            <a:srgbClr val="0D3B66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051560" y="2971800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1051560" y="2971800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900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8760" y="2980944"/>
            <a:ext cx="274320" cy="27432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874520" y="291693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 CLOUDS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1874520" y="31181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 Ecosystem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4206240" y="32826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1028700" y="3429000"/>
            <a:ext cx="7086600" cy="438912"/>
          </a:xfrm>
          <a:prstGeom prst="roundRect">
            <a:avLst>
              <a:gd name="adj" fmla="val 20833"/>
            </a:avLst>
          </a:prstGeom>
          <a:solidFill>
            <a:srgbClr val="00557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1120140" y="3502152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Text 36"/>
          <p:cNvSpPr/>
          <p:nvPr/>
        </p:nvSpPr>
        <p:spPr>
          <a:xfrm>
            <a:off x="1120140" y="3502152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900" dirty="0"/>
          </a:p>
        </p:txBody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7340" y="3511296"/>
            <a:ext cx="274320" cy="27432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1943100" y="3447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CRM CORE</a:t>
            </a:r>
            <a:endParaRPr lang="en-US" sz="1100" dirty="0"/>
          </a:p>
        </p:txBody>
      </p:sp>
      <p:sp>
        <p:nvSpPr>
          <p:cNvPr id="46" name="Text 38"/>
          <p:cNvSpPr/>
          <p:nvPr/>
        </p:nvSpPr>
        <p:spPr>
          <a:xfrm>
            <a:off x="1943100" y="36484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</a:t>
            </a:r>
            <a:endParaRPr lang="en-US" sz="800" dirty="0"/>
          </a:p>
        </p:txBody>
      </p:sp>
      <p:sp>
        <p:nvSpPr>
          <p:cNvPr id="47" name="Text 39"/>
          <p:cNvSpPr/>
          <p:nvPr/>
        </p:nvSpPr>
        <p:spPr>
          <a:xfrm>
            <a:off x="4206240" y="381304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48" name="Shape 40"/>
          <p:cNvSpPr/>
          <p:nvPr/>
        </p:nvSpPr>
        <p:spPr>
          <a:xfrm>
            <a:off x="1097280" y="3959352"/>
            <a:ext cx="6949440" cy="438912"/>
          </a:xfrm>
          <a:prstGeom prst="roundRect">
            <a:avLst>
              <a:gd name="adj" fmla="val 20833"/>
            </a:avLst>
          </a:prstGeom>
          <a:solidFill>
            <a:srgbClr val="006688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1188720" y="4032504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Text 42"/>
          <p:cNvSpPr/>
          <p:nvPr/>
        </p:nvSpPr>
        <p:spPr>
          <a:xfrm>
            <a:off x="1188720" y="4032504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900" dirty="0"/>
          </a:p>
        </p:txBody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041648"/>
            <a:ext cx="274320" cy="274320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201168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PLATFORM</a:t>
            </a:r>
            <a:endParaRPr lang="en-US" sz="1100" dirty="0"/>
          </a:p>
        </p:txBody>
      </p:sp>
      <p:sp>
        <p:nvSpPr>
          <p:cNvPr id="53" name="Text 44"/>
          <p:cNvSpPr/>
          <p:nvPr/>
        </p:nvSpPr>
        <p:spPr>
          <a:xfrm>
            <a:off x="2011680" y="41788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Data Platform</a:t>
            </a:r>
            <a:endParaRPr lang="en-US" sz="800" dirty="0"/>
          </a:p>
        </p:txBody>
      </p:sp>
      <p:sp>
        <p:nvSpPr>
          <p:cNvPr id="54" name="Text 45"/>
          <p:cNvSpPr/>
          <p:nvPr/>
        </p:nvSpPr>
        <p:spPr>
          <a:xfrm>
            <a:off x="420624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4FF"/>
                </a:solidFill>
              </a:rPr>
              <a:t>▲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1165860" y="4489704"/>
            <a:ext cx="6812280" cy="438912"/>
          </a:xfrm>
          <a:prstGeom prst="roundRect">
            <a:avLst>
              <a:gd name="adj" fmla="val 20833"/>
            </a:avLst>
          </a:prstGeom>
          <a:solidFill>
            <a:srgbClr val="007799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6" name="Shape 47"/>
          <p:cNvSpPr/>
          <p:nvPr/>
        </p:nvSpPr>
        <p:spPr>
          <a:xfrm>
            <a:off x="1257300" y="4562856"/>
            <a:ext cx="365760" cy="292608"/>
          </a:xfrm>
          <a:prstGeom prst="roundRect">
            <a:avLst>
              <a:gd name="adj" fmla="val 25000"/>
            </a:avLst>
          </a:prstGeom>
          <a:solidFill>
            <a:srgbClr val="00D4FF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7" name="Text 48"/>
          <p:cNvSpPr/>
          <p:nvPr/>
        </p:nvSpPr>
        <p:spPr>
          <a:xfrm>
            <a:off x="1257300" y="4562856"/>
            <a:ext cx="3657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900" dirty="0"/>
          </a:p>
        </p:txBody>
      </p:sp>
      <p:pic>
        <p:nvPicPr>
          <p:cNvPr id="5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14500" y="4572000"/>
            <a:ext cx="274320" cy="274320"/>
          </a:xfrm>
          <a:prstGeom prst="rect">
            <a:avLst/>
          </a:prstGeom>
        </p:spPr>
      </p:pic>
      <p:sp>
        <p:nvSpPr>
          <p:cNvPr id="59" name="Text 49"/>
          <p:cNvSpPr/>
          <p:nvPr/>
        </p:nvSpPr>
        <p:spPr>
          <a:xfrm>
            <a:off x="2080260" y="45079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ECOSYSTEM</a:t>
            </a:r>
            <a:endParaRPr lang="en-US" sz="1100" dirty="0"/>
          </a:p>
        </p:txBody>
      </p:sp>
      <p:sp>
        <p:nvSpPr>
          <p:cNvPr id="60" name="Text 50"/>
          <p:cNvSpPr/>
          <p:nvPr/>
        </p:nvSpPr>
        <p:spPr>
          <a:xfrm>
            <a:off x="2080260" y="4709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Capture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280160" y="228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BUSINESS ECOSYSTEM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every interaction, event, signal, and transaction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82880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96596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360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00400" y="2743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Ingestion Hub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9144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515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1005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" y="18288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9659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440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57200" y="27432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88036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457200" y="36576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9476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1440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1828800" y="393192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20240" y="40690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2286000" y="4023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</a:t>
            </a:r>
            <a:endParaRPr lang="en-US" sz="900" dirty="0"/>
          </a:p>
        </p:txBody>
      </p:sp>
      <p:sp>
        <p:nvSpPr>
          <p:cNvPr id="26" name="Shape 18"/>
          <p:cNvSpPr/>
          <p:nvPr/>
        </p:nvSpPr>
        <p:spPr>
          <a:xfrm>
            <a:off x="3200400" y="393192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91840" y="4069080"/>
            <a:ext cx="320040" cy="32004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657600" y="4023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 Platforms</a:t>
            </a:r>
            <a:endParaRPr lang="en-US" sz="900" dirty="0"/>
          </a:p>
        </p:txBody>
      </p:sp>
      <p:sp>
        <p:nvSpPr>
          <p:cNvPr id="29" name="Shape 20"/>
          <p:cNvSpPr/>
          <p:nvPr/>
        </p:nvSpPr>
        <p:spPr>
          <a:xfrm>
            <a:off x="6858000" y="9144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1051560"/>
            <a:ext cx="320040" cy="32004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315200" y="1005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00" dirty="0"/>
          </a:p>
        </p:txBody>
      </p:sp>
      <p:sp>
        <p:nvSpPr>
          <p:cNvPr id="32" name="Shape 22"/>
          <p:cNvSpPr/>
          <p:nvPr/>
        </p:nvSpPr>
        <p:spPr>
          <a:xfrm>
            <a:off x="6858000" y="18288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1965960"/>
            <a:ext cx="320040" cy="320040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31520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Systems</a:t>
            </a:r>
            <a:endParaRPr lang="en-US" sz="900" dirty="0"/>
          </a:p>
        </p:txBody>
      </p:sp>
      <p:sp>
        <p:nvSpPr>
          <p:cNvPr id="35" name="Shape 24"/>
          <p:cNvSpPr/>
          <p:nvPr/>
        </p:nvSpPr>
        <p:spPr>
          <a:xfrm>
            <a:off x="6858000" y="27432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2880360"/>
            <a:ext cx="320040" cy="320040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731520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Systems</a:t>
            </a:r>
            <a:endParaRPr lang="en-US" sz="900" dirty="0"/>
          </a:p>
        </p:txBody>
      </p:sp>
      <p:sp>
        <p:nvSpPr>
          <p:cNvPr id="38" name="Shape 26"/>
          <p:cNvSpPr/>
          <p:nvPr/>
        </p:nvSpPr>
        <p:spPr>
          <a:xfrm>
            <a:off x="6858000" y="365760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9440" y="3794760"/>
            <a:ext cx="320040" cy="320040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731520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Devices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5029200" y="393192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20640" y="4069080"/>
            <a:ext cx="320040" cy="320040"/>
          </a:xfrm>
          <a:prstGeom prst="rect">
            <a:avLst/>
          </a:prstGeom>
        </p:spPr>
      </p:pic>
      <p:sp>
        <p:nvSpPr>
          <p:cNvPr id="43" name="Text 29"/>
          <p:cNvSpPr/>
          <p:nvPr/>
        </p:nvSpPr>
        <p:spPr>
          <a:xfrm>
            <a:off x="5486400" y="4023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Center</a:t>
            </a:r>
            <a:endParaRPr lang="en-US" sz="900" dirty="0"/>
          </a:p>
        </p:txBody>
      </p:sp>
      <p:sp>
        <p:nvSpPr>
          <p:cNvPr id="44" name="Shape 30"/>
          <p:cNvSpPr/>
          <p:nvPr/>
        </p:nvSpPr>
        <p:spPr>
          <a:xfrm>
            <a:off x="6400800" y="393192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5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92240" y="4069080"/>
            <a:ext cx="320040" cy="320040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6858000" y="4023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280160" y="228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DATA PLATFORM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business intelligence through unified data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BBDEFB"/>
          </a:solidFill>
          <a:ln/>
        </p:spPr>
      </p:sp>
      <p:sp>
        <p:nvSpPr>
          <p:cNvPr id="11" name="Text 9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90CAF9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Unification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64B5F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42A5F5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14884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2240280"/>
            <a:ext cx="365760" cy="3657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8600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360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148840" y="214884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651760" y="2240280"/>
            <a:ext cx="365760" cy="3657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286000"/>
            <a:ext cx="274320" cy="2743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214884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360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3840480" y="214884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4343400" y="2240280"/>
            <a:ext cx="365760" cy="3657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28600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384048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360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532120" y="214884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035040" y="2240280"/>
            <a:ext cx="365760" cy="3657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286000"/>
            <a:ext cx="274320" cy="27432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53212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360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7223760" y="214884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726680" y="2240280"/>
            <a:ext cx="365760" cy="36576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2286000"/>
            <a:ext cx="274320" cy="274320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7223760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360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457200" y="32918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548640" y="3337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Tracking</a:t>
            </a:r>
            <a:endParaRPr lang="en-US" sz="900" dirty="0"/>
          </a:p>
        </p:txBody>
      </p:sp>
      <p:sp>
        <p:nvSpPr>
          <p:cNvPr id="43" name="Text 36"/>
          <p:cNvSpPr/>
          <p:nvPr/>
        </p:nvSpPr>
        <p:spPr>
          <a:xfrm>
            <a:off x="548640" y="3566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signals</a:t>
            </a:r>
            <a:endParaRPr lang="en-US" sz="800" dirty="0"/>
          </a:p>
        </p:txBody>
      </p:sp>
      <p:sp>
        <p:nvSpPr>
          <p:cNvPr id="44" name="Shape 37"/>
          <p:cNvSpPr/>
          <p:nvPr/>
        </p:nvSpPr>
        <p:spPr>
          <a:xfrm>
            <a:off x="2148840" y="32918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2240280" y="3337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2240280" y="3566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audiences</a:t>
            </a:r>
            <a:endParaRPr lang="en-US" sz="800" dirty="0"/>
          </a:p>
        </p:txBody>
      </p:sp>
      <p:sp>
        <p:nvSpPr>
          <p:cNvPr id="47" name="Shape 40"/>
          <p:cNvSpPr/>
          <p:nvPr/>
        </p:nvSpPr>
        <p:spPr>
          <a:xfrm>
            <a:off x="3840480" y="32918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Text 41"/>
          <p:cNvSpPr/>
          <p:nvPr/>
        </p:nvSpPr>
        <p:spPr>
          <a:xfrm>
            <a:off x="3931920" y="3337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900" dirty="0"/>
          </a:p>
        </p:txBody>
      </p:sp>
      <p:sp>
        <p:nvSpPr>
          <p:cNvPr id="49" name="Text 42"/>
          <p:cNvSpPr/>
          <p:nvPr/>
        </p:nvSpPr>
        <p:spPr>
          <a:xfrm>
            <a:off x="3931920" y="3566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data</a:t>
            </a:r>
            <a:endParaRPr lang="en-US" sz="800" dirty="0"/>
          </a:p>
        </p:txBody>
      </p:sp>
      <p:sp>
        <p:nvSpPr>
          <p:cNvPr id="50" name="Shape 43"/>
          <p:cNvSpPr/>
          <p:nvPr/>
        </p:nvSpPr>
        <p:spPr>
          <a:xfrm>
            <a:off x="5532120" y="32918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Text 44"/>
          <p:cNvSpPr/>
          <p:nvPr/>
        </p:nvSpPr>
        <p:spPr>
          <a:xfrm>
            <a:off x="5623560" y="3337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900" dirty="0"/>
          </a:p>
        </p:txBody>
      </p:sp>
      <p:sp>
        <p:nvSpPr>
          <p:cNvPr id="52" name="Text 45"/>
          <p:cNvSpPr/>
          <p:nvPr/>
        </p:nvSpPr>
        <p:spPr>
          <a:xfrm>
            <a:off x="5623560" y="3566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sync</a:t>
            </a:r>
            <a:endParaRPr lang="en-US" sz="800" dirty="0"/>
          </a:p>
        </p:txBody>
      </p:sp>
      <p:sp>
        <p:nvSpPr>
          <p:cNvPr id="53" name="Shape 46"/>
          <p:cNvSpPr/>
          <p:nvPr/>
        </p:nvSpPr>
        <p:spPr>
          <a:xfrm>
            <a:off x="7223760" y="32918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47"/>
          <p:cNvSpPr/>
          <p:nvPr/>
        </p:nvSpPr>
        <p:spPr>
          <a:xfrm>
            <a:off x="7315200" y="3337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Mgmt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7315200" y="3566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GDPR/CCPA</a:t>
            </a:r>
            <a:endParaRPr lang="en-US" sz="800" dirty="0"/>
          </a:p>
        </p:txBody>
      </p:sp>
      <p:sp>
        <p:nvSpPr>
          <p:cNvPr id="56" name="Shape 49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Text 50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BUSINESS INTELLIGENCE  -  Every record, event, and relationship unified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280160" y="228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CRM CORE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record, multiple departments, single source of truth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201168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1031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29000" y="2468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429000" y="2679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914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0088C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" y="914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286000" y="914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00A3B4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286000" y="914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840480" y="82296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00CC8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840480" y="822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0" y="914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FF6B35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669280" y="914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0" y="914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315200" y="914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33832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CC6600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57200" y="3383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286000" y="33832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EC4899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2286000" y="3383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840480" y="33832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0088A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840480" y="3383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669280" y="33832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668800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669280" y="3383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315200" y="33832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886600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315200" y="3383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143000" y="1417320"/>
            <a:ext cx="0" cy="5943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2971800" y="1417320"/>
            <a:ext cx="0" cy="5943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3" name="Shape 30"/>
          <p:cNvSpPr/>
          <p:nvPr/>
        </p:nvSpPr>
        <p:spPr>
          <a:xfrm>
            <a:off x="4526280" y="1417320"/>
            <a:ext cx="0" cy="5943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6355080" y="1417320"/>
            <a:ext cx="0" cy="5943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5" name="Shape 32"/>
          <p:cNvSpPr/>
          <p:nvPr/>
        </p:nvSpPr>
        <p:spPr>
          <a:xfrm>
            <a:off x="8001000" y="1417320"/>
            <a:ext cx="0" cy="5943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1143000" y="2926080"/>
            <a:ext cx="0" cy="45720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2971800" y="2926080"/>
            <a:ext cx="0" cy="45720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4526280" y="2926080"/>
            <a:ext cx="0" cy="45720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39" name="Shape 36"/>
          <p:cNvSpPr/>
          <p:nvPr/>
        </p:nvSpPr>
        <p:spPr>
          <a:xfrm>
            <a:off x="6355080" y="2926080"/>
            <a:ext cx="0" cy="45720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40" name="Shape 37"/>
          <p:cNvSpPr/>
          <p:nvPr/>
        </p:nvSpPr>
        <p:spPr>
          <a:xfrm>
            <a:off x="8001000" y="2926080"/>
            <a:ext cx="0" cy="45720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</p:spPr>
      </p:sp>
      <p:sp>
        <p:nvSpPr>
          <p:cNvPr id="42" name="Text 39"/>
          <p:cNvSpPr/>
          <p:nvPr/>
        </p:nvSpPr>
        <p:spPr>
          <a:xfrm>
            <a:off x="640080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objects are interconnected through a unified relational data model.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department accesses the same records - eliminating data silos.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 ECOSYSTEM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Integrated Operating Modules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8346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63040" y="2907792"/>
            <a:ext cx="347472" cy="347472"/>
          </a:xfrm>
          <a:prstGeom prst="ellipse">
            <a:avLst/>
          </a:prstGeom>
          <a:solidFill>
            <a:srgbClr val="0088CC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97180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74520" y="2834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BIOM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0" y="28346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749040" y="2907792"/>
            <a:ext cx="347472" cy="347472"/>
          </a:xfrm>
          <a:prstGeom prst="ellipse">
            <a:avLst/>
          </a:prstGeom>
          <a:solidFill>
            <a:srgbClr val="00A3B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29718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160520" y="2834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BIOM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943600" y="28346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35040" y="2907792"/>
            <a:ext cx="347472" cy="347472"/>
          </a:xfrm>
          <a:prstGeom prst="ellipse">
            <a:avLst/>
          </a:prstGeom>
          <a:solidFill>
            <a:srgbClr val="00CC88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048" y="297180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2834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BIOM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371600" y="347472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463040" y="3547872"/>
            <a:ext cx="347472" cy="347472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7048" y="361188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34747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BIOM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3657600" y="347472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749040" y="3547872"/>
            <a:ext cx="347472" cy="347472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048" y="3611880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60520" y="34747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BIOM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5943600" y="347472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035040" y="3547872"/>
            <a:ext cx="347472" cy="347472"/>
          </a:xfrm>
          <a:prstGeom prst="ellipse">
            <a:avLst/>
          </a:prstGeom>
          <a:solidFill>
            <a:srgbClr val="EC4899"/>
          </a:solidFill>
          <a:ln/>
        </p:spPr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9048" y="3611880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446520" y="34747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HRMS BIOM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1371600" y="4114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1463040" y="4187952"/>
            <a:ext cx="347472" cy="347472"/>
          </a:xfrm>
          <a:prstGeom prst="ellipse">
            <a:avLst/>
          </a:prstGeom>
          <a:solidFill>
            <a:srgbClr val="0088AA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7048" y="42519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874520" y="4114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BIOM</a:t>
            </a:r>
            <a:endParaRPr lang="en-US" sz="1000" dirty="0"/>
          </a:p>
        </p:txBody>
      </p:sp>
      <p:sp>
        <p:nvSpPr>
          <p:cNvPr id="35" name="Shape 26"/>
          <p:cNvSpPr/>
          <p:nvPr/>
        </p:nvSpPr>
        <p:spPr>
          <a:xfrm>
            <a:off x="3657600" y="4114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3749040" y="4187952"/>
            <a:ext cx="347472" cy="347472"/>
          </a:xfrm>
          <a:prstGeom prst="ellipse">
            <a:avLst/>
          </a:prstGeom>
          <a:solidFill>
            <a:srgbClr val="668800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3048" y="4251960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4160520" y="4114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BIOM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943600" y="4114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0"/>
          <p:cNvSpPr/>
          <p:nvPr/>
        </p:nvSpPr>
        <p:spPr>
          <a:xfrm>
            <a:off x="6035040" y="4187952"/>
            <a:ext cx="347472" cy="347472"/>
          </a:xfrm>
          <a:prstGeom prst="ellipse">
            <a:avLst/>
          </a:prstGeom>
          <a:solidFill>
            <a:srgbClr val="886600"/>
          </a:solidFill>
          <a:ln/>
        </p:spPr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9048" y="4251960"/>
            <a:ext cx="219456" cy="219456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6446520" y="4114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BIOM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opportunities into revenue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BBDEF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90CAF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64B5F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0088CC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Management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routing, nurture automation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Tracking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stages with probability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CPQ Engine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Configure-Price-Quote automation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Forecasting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revenue prediction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Mgmt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 and segment-based assignment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Playbooks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selling best practices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Attract, engage, and qualify at scale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Attract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C88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C8E6C9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C88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A5D6A7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C88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81C784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C88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66BB6A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Mgmt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Multi-channel campaign orchestration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Builder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automation flow designer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Hub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and content optimization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Studio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Create, schedule, and publish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Multi-touch revenue attribution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Testing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every customer touchpoint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faster, retain longer, delight always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EBEE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CDD2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F9A9A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F535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Support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chat, phone, social in one inbox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Ticketing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auto-classify, prioritize, and route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portal with AI search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escalation and tracking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Success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scores and churn prediction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and mobile workforce mgmt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commerce from catalog to fulfillment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F3E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E0B2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CC80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B74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6B35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F6B35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Fulfillment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Catalog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Variants, pricing, bundles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Stripe, PayPal, bank transfers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 Billing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revenue automation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Mgmt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stock tracking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 Engine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Multi-jurisdiction compliance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&amp; Refunds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RMA workflow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financial operations and intelligence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DE7F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C3AED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D1C4E9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C3AED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B39DDB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C3AED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9575C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C3AED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Ledger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with auto-reconciliation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/ AR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Payables and receivables automation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Budgeting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Department-level budget tracking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orders and vendor mgmt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Mgmt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expense reporting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Forecast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revenue projections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HRMS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Hire, develop, and retain top talent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CE4E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4899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8BBD0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4899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F48FB1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4899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C407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C4899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C4899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ATS, job postings, candidate pipeline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workflows and docs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Payroll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Multi-country salary processing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OKRs, reviews, 360 feedback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(LMS)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paths and certifications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tracking, leave management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BIOM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execute, and deliver on time and on budget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E0F2F1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3B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B2DFD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2044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3B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80CBC4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3B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4DB6AC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9516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3B4"/>
                </a:solidFill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1005840"/>
            <a:ext cx="1554480" cy="822960"/>
          </a:xfrm>
          <a:prstGeom prst="roundRect">
            <a:avLst>
              <a:gd name="adj" fmla="val 11111"/>
            </a:avLst>
          </a:prstGeom>
          <a:solidFill>
            <a:srgbClr val="00A3B4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1005840"/>
            <a:ext cx="1554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04288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6868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Agile Boards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Kanban, Scrum, custom workflows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304288"/>
            <a:ext cx="201168" cy="20116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65760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Gantt Charts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365760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timeline with dependencies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04288"/>
            <a:ext cx="201168" cy="20116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46520" y="2240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Allocation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4652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planning across teams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45720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990088"/>
            <a:ext cx="201168" cy="20116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6868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6868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path tracking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324612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990088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65760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Tracking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65760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Billable hours and utilization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6035040" y="288036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990088"/>
            <a:ext cx="201168" cy="20116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446520" y="2926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Portal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446520" y="3154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collaboration and approvals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&amp; VENDOR BIOMs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your ecosystem and optimize your supply chain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BIOM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Onboarding &amp; Certification</a:t>
            </a:r>
            <a:endParaRPr lang="en-US" sz="9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75688"/>
            <a:ext cx="182880" cy="182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Registration &amp; Pipeline Sharing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459736"/>
            <a:ext cx="182880" cy="1828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05840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Tracking &amp; Attribution</a:t>
            </a:r>
            <a:endParaRPr lang="en-US" sz="9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43784"/>
            <a:ext cx="182880" cy="18288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05840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Management &amp; Payouts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27832"/>
            <a:ext cx="182880" cy="18288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Revenue Analytics</a:t>
            </a:r>
            <a:endParaRPr lang="en-US" sz="9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182880" cy="18288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00584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Co-Marketing Campaign Tools</a:t>
            </a:r>
            <a:endParaRPr lang="en-US" sz="900" dirty="0"/>
          </a:p>
        </p:txBody>
      </p:sp>
      <p:sp>
        <p:nvSpPr>
          <p:cNvPr id="21" name="Shape 12"/>
          <p:cNvSpPr/>
          <p:nvPr/>
        </p:nvSpPr>
        <p:spPr>
          <a:xfrm>
            <a:off x="4754880" y="100584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097280"/>
            <a:ext cx="365760" cy="3657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39496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BIOM</a:t>
            </a:r>
            <a:endParaRPr lang="en-US" sz="14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30352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Onboarding &amp; Compliance</a:t>
            </a:r>
            <a:endParaRPr lang="en-US" sz="9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75688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303520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&amp; Purchase Orders</a:t>
            </a:r>
            <a:endParaRPr lang="en-US" sz="9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459736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5303520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Lifecycle Management</a:t>
            </a:r>
            <a:endParaRPr lang="en-US" sz="9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843784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303520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Processing &amp; Matching</a:t>
            </a:r>
            <a:endParaRPr lang="en-US" sz="900" dirty="0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27832"/>
            <a:ext cx="182880" cy="182880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530352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Performance Scoring</a:t>
            </a:r>
            <a:endParaRPr lang="en-US" sz="90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611880"/>
            <a:ext cx="182880" cy="182880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530352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Analytics &amp; Optimization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CROSS-BIOM COLLABORATION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one BIOM acts, others respond automatically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960120"/>
            <a:ext cx="2560320" cy="594360"/>
          </a:xfrm>
          <a:prstGeom prst="roundRect">
            <a:avLst>
              <a:gd name="adj" fmla="val 15385"/>
            </a:avLst>
          </a:prstGeom>
          <a:solidFill>
            <a:srgbClr val="0088C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069848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987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BIOM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645920" y="15087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31520" y="1737360"/>
            <a:ext cx="25603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47088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80160" y="1764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BIOM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280160" y="20299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Generated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645920" y="22860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▼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" y="2514600"/>
            <a:ext cx="2560320" cy="594360"/>
          </a:xfrm>
          <a:prstGeom prst="roundRect">
            <a:avLst>
              <a:gd name="adj" fmla="val 15385"/>
            </a:avLst>
          </a:prstGeom>
          <a:solidFill>
            <a:srgbClr val="00A3B4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624328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BIOM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280160" y="28072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Created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1645920" y="3063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▼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31520" y="3291840"/>
            <a:ext cx="2560320" cy="594360"/>
          </a:xfrm>
          <a:prstGeom prst="roundRect">
            <a:avLst>
              <a:gd name="adj" fmla="val 15385"/>
            </a:avLst>
          </a:prstGeom>
          <a:solidFill>
            <a:srgbClr val="EC4899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401568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80160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HRMS BIOM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280160" y="35844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Assigned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1645920" y="3840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▼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1520" y="4069080"/>
            <a:ext cx="2560320" cy="594360"/>
          </a:xfrm>
          <a:prstGeom prst="roundRect">
            <a:avLst>
              <a:gd name="adj" fmla="val 15385"/>
            </a:avLst>
          </a:prstGeom>
          <a:solidFill>
            <a:srgbClr val="00CC88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178808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280160" y="4096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BIOM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280160" y="43616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Plan Activated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3953022" y="1001268"/>
            <a:ext cx="4754880" cy="3840480"/>
          </a:xfrm>
          <a:prstGeom prst="roundRect">
            <a:avLst>
              <a:gd name="adj" fmla="val 2381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4114800" y="1097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BUSINESS ORCHESTRATION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4114800" y="14630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deal closes, Horizon 360 automatically orchestrates across every department:</a:t>
            </a:r>
            <a:endParaRPr lang="en-US" sz="9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2011680"/>
            <a:ext cx="164592" cy="16459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480560" y="19888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generates the invoice and updates revenue</a:t>
            </a:r>
            <a:endParaRPr lang="en-US" sz="9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2395728"/>
            <a:ext cx="164592" cy="164592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480560" y="23728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module creates delivery milestones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2779776"/>
            <a:ext cx="164592" cy="164592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4480560" y="27569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assigns team based on skill matching</a:t>
            </a:r>
            <a:endParaRPr lang="en-US" sz="9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3163824"/>
            <a:ext cx="164592" cy="16459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4480560" y="31409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creates a customer success plan</a:t>
            </a:r>
            <a:endParaRPr lang="en-US" sz="9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3547872"/>
            <a:ext cx="164592" cy="164592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4480560" y="35250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updates executive dashboards in real-time</a:t>
            </a:r>
            <a:endParaRPr lang="en-US" sz="90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0" y="3931920"/>
            <a:ext cx="164592" cy="164592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4480560" y="39090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adjusts forecasts and resource allocation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4114800" y="4206240"/>
            <a:ext cx="4389120" cy="411480"/>
          </a:xfrm>
          <a:prstGeom prst="roundRect">
            <a:avLst>
              <a:gd name="adj" fmla="val 22222"/>
            </a:avLst>
          </a:prstGeom>
          <a:solidFill>
            <a:srgbClr val="0D2847"/>
          </a:solidFill>
          <a:ln w="12700">
            <a:solidFill>
              <a:srgbClr val="00D4FF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" name="Text 33"/>
          <p:cNvSpPr/>
          <p:nvPr/>
        </p:nvSpPr>
        <p:spPr>
          <a:xfrm>
            <a:off x="4114800" y="4206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manual handoffs. Zero data re-entry. 100% automated.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INTELLIGENCE MESH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Business Decision Architecture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20040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48840" y="3291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23160" y="320040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23160" y="320040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291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31920" y="320040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31920" y="320040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66360" y="3291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40680" y="320040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40680" y="320040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3291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3200400"/>
            <a:ext cx="1280160" cy="411480"/>
          </a:xfrm>
          <a:prstGeom prst="roundRect">
            <a:avLst>
              <a:gd name="adj" fmla="val 17778"/>
            </a:avLst>
          </a:prstGeom>
          <a:solidFill>
            <a:srgbClr val="00D4FF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320040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AI agents with a unified Executive Copilot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914400"/>
            <a:ext cx="4572000" cy="91440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058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COPILOT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097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240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3383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526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5669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812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7955280" y="1828800"/>
            <a:ext cx="0" cy="365760"/>
          </a:xfrm>
          <a:prstGeom prst="line">
            <a:avLst/>
          </a:prstGeom>
          <a:noFill/>
          <a:ln w="12700">
            <a:solidFill>
              <a:srgbClr val="B0C4D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320040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0088C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20040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527048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00A3B4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1527048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734056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00CC8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2734056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941064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7C3AE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3941064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148072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EC4899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148072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355080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0088A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355080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562088" y="2194560"/>
            <a:ext cx="1051560" cy="822960"/>
          </a:xfrm>
          <a:prstGeom prst="roundRect">
            <a:avLst>
              <a:gd name="adj" fmla="val 11111"/>
            </a:avLst>
          </a:prstGeom>
          <a:solidFill>
            <a:srgbClr val="FF6B35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62088" y="2194560"/>
            <a:ext cx="105156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429000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3152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queries across all business data</a:t>
            </a:r>
            <a:endParaRPr lang="en-US" sz="900" dirty="0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429000"/>
            <a:ext cx="201168" cy="20116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983480" y="3383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analytics and anomaly detection</a:t>
            </a:r>
            <a:endParaRPr lang="en-US" sz="900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201168" cy="201168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731520" y="3794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task execution and workflow triggers</a:t>
            </a:r>
            <a:endParaRPr lang="en-US" sz="9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4983480" y="3794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recommendations per department</a:t>
            </a:r>
            <a:endParaRPr lang="en-US" sz="90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51960"/>
            <a:ext cx="201168" cy="20116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31520" y="4206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Cross-BIOM intelligence correlation</a:t>
            </a:r>
            <a:endParaRPr lang="en-US" sz="9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4251960"/>
            <a:ext cx="201168" cy="20116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4983480" y="42062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learning from business outcomes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DECISION INTELLIGENCE CYCLE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E3F2FD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96012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822960"/>
            <a:ext cx="62179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real-time signals from every BIOM, touchpoint, and data source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1417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BBDEF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78308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1783080"/>
            <a:ext cx="13716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1645920"/>
            <a:ext cx="62179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ML models to identify patterns, correlations, and anomalies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90CA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60604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2606040"/>
            <a:ext cx="13716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468880"/>
            <a:ext cx="62179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outcomes, risks, and opportunities across all departments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64B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42900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429000"/>
            <a:ext cx="13716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291840"/>
            <a:ext cx="62179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actionable insights to the right person at the right time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97680" y="3886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088CC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" y="42519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4251960"/>
            <a:ext cx="137160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4114800"/>
            <a:ext cx="621792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decisions autonomously with human-in-the-loop guardrails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FLOW ENGINE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Workflow Automation at Scale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173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4592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4592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060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464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9476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2336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02336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8348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1208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1208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7220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0080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60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4FF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89520" y="320040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00CC88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89520" y="3200400"/>
            <a:ext cx="10058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ENGINE CAPABILITIES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any business process with intelligent orchestration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1556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051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Workflow Designer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1280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Drag-and-drop flow builder for any process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46120" y="10058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115568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1051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Engine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657600" y="1280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Multi-level approvals with delegation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035040" y="10058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15568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46520" y="1051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6446520" y="1280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business logic without code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57200" y="16916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01368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6868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868680" y="1965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Time-based escalation and compliance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3246120" y="16916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801368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65760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3657600" y="1965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event-driven architecture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6035040" y="16916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01368"/>
            <a:ext cx="201168" cy="20116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46520" y="17373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AI-Triggered Flows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6446520" y="19659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models initiate automated workflows</a:t>
            </a:r>
            <a:endParaRPr lang="en-US" sz="800" dirty="0"/>
          </a:p>
        </p:txBody>
      </p:sp>
      <p:sp>
        <p:nvSpPr>
          <p:cNvPr id="30" name="Shape 22"/>
          <p:cNvSpPr/>
          <p:nvPr/>
        </p:nvSpPr>
        <p:spPr>
          <a:xfrm>
            <a:off x="457200" y="23774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87168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86868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Marketplace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868680" y="26517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templates for common processes</a:t>
            </a:r>
            <a:endParaRPr lang="en-US" sz="800" dirty="0"/>
          </a:p>
        </p:txBody>
      </p:sp>
      <p:sp>
        <p:nvSpPr>
          <p:cNvPr id="34" name="Shape 25"/>
          <p:cNvSpPr/>
          <p:nvPr/>
        </p:nvSpPr>
        <p:spPr>
          <a:xfrm>
            <a:off x="3246120" y="23774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487168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365760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Cross-BIOM Automation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3657600" y="26517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spanning multiple departments</a:t>
            </a:r>
            <a:endParaRPr lang="en-US" sz="800" dirty="0"/>
          </a:p>
        </p:txBody>
      </p:sp>
      <p:sp>
        <p:nvSpPr>
          <p:cNvPr id="38" name="Shape 28"/>
          <p:cNvSpPr/>
          <p:nvPr/>
        </p:nvSpPr>
        <p:spPr>
          <a:xfrm>
            <a:off x="6035040" y="237744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487168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44652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000" dirty="0"/>
          </a:p>
        </p:txBody>
      </p:sp>
      <p:sp>
        <p:nvSpPr>
          <p:cNvPr id="41" name="Text 30"/>
          <p:cNvSpPr/>
          <p:nvPr/>
        </p:nvSpPr>
        <p:spPr>
          <a:xfrm>
            <a:off x="6446520" y="26517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history of every automation</a:t>
            </a:r>
            <a:endParaRPr lang="en-US" sz="800" dirty="0"/>
          </a:p>
        </p:txBody>
      </p:sp>
      <p:sp>
        <p:nvSpPr>
          <p:cNvPr id="42" name="Shape 31"/>
          <p:cNvSpPr/>
          <p:nvPr/>
        </p:nvSpPr>
        <p:spPr>
          <a:xfrm>
            <a:off x="457200" y="329184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Text 32"/>
          <p:cNvSpPr/>
          <p:nvPr/>
        </p:nvSpPr>
        <p:spPr>
          <a:xfrm>
            <a:off x="64008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Employee Onboarding Workflow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64008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E3F2F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Text 34"/>
          <p:cNvSpPr/>
          <p:nvPr/>
        </p:nvSpPr>
        <p:spPr>
          <a:xfrm>
            <a:off x="64008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</a:t>
            </a:r>
            <a:endParaRPr lang="en-US" sz="800" dirty="0"/>
          </a:p>
        </p:txBody>
      </p:sp>
      <p:sp>
        <p:nvSpPr>
          <p:cNvPr id="46" name="Text 35"/>
          <p:cNvSpPr/>
          <p:nvPr/>
        </p:nvSpPr>
        <p:spPr>
          <a:xfrm>
            <a:off x="173736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8CC"/>
                </a:solidFill>
              </a:rPr>
              <a:t>▶</a:t>
            </a:r>
            <a:endParaRPr lang="en-US" sz="900" dirty="0"/>
          </a:p>
        </p:txBody>
      </p:sp>
      <p:sp>
        <p:nvSpPr>
          <p:cNvPr id="47" name="Shape 36"/>
          <p:cNvSpPr/>
          <p:nvPr/>
        </p:nvSpPr>
        <p:spPr>
          <a:xfrm>
            <a:off x="196596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E3F2F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Text 37"/>
          <p:cNvSpPr/>
          <p:nvPr/>
        </p:nvSpPr>
        <p:spPr>
          <a:xfrm>
            <a:off x="196596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Notified</a:t>
            </a:r>
            <a:endParaRPr lang="en-US" sz="800" dirty="0"/>
          </a:p>
        </p:txBody>
      </p:sp>
      <p:sp>
        <p:nvSpPr>
          <p:cNvPr id="49" name="Text 38"/>
          <p:cNvSpPr/>
          <p:nvPr/>
        </p:nvSpPr>
        <p:spPr>
          <a:xfrm>
            <a:off x="306324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8CC"/>
                </a:solidFill>
              </a:rPr>
              <a:t>▶</a:t>
            </a:r>
            <a:endParaRPr lang="en-US" sz="900" dirty="0"/>
          </a:p>
        </p:txBody>
      </p:sp>
      <p:sp>
        <p:nvSpPr>
          <p:cNvPr id="50" name="Shape 39"/>
          <p:cNvSpPr/>
          <p:nvPr/>
        </p:nvSpPr>
        <p:spPr>
          <a:xfrm>
            <a:off x="329184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E3F2F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Text 40"/>
          <p:cNvSpPr/>
          <p:nvPr/>
        </p:nvSpPr>
        <p:spPr>
          <a:xfrm>
            <a:off x="329184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Assets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Provisioned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438912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8CC"/>
                </a:solidFill>
              </a:rPr>
              <a:t>▶</a:t>
            </a:r>
            <a:endParaRPr lang="en-US" sz="900" dirty="0"/>
          </a:p>
        </p:txBody>
      </p:sp>
      <p:sp>
        <p:nvSpPr>
          <p:cNvPr id="53" name="Shape 42"/>
          <p:cNvSpPr/>
          <p:nvPr/>
        </p:nvSpPr>
        <p:spPr>
          <a:xfrm>
            <a:off x="461772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E3F2F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Text 43"/>
          <p:cNvSpPr/>
          <p:nvPr/>
        </p:nvSpPr>
        <p:spPr>
          <a:xfrm>
            <a:off x="461772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Introduced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571500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8CC"/>
                </a:solidFill>
              </a:rPr>
              <a:t>▶</a:t>
            </a:r>
            <a:endParaRPr lang="en-US" sz="900" dirty="0"/>
          </a:p>
        </p:txBody>
      </p:sp>
      <p:sp>
        <p:nvSpPr>
          <p:cNvPr id="56" name="Shape 45"/>
          <p:cNvSpPr/>
          <p:nvPr/>
        </p:nvSpPr>
        <p:spPr>
          <a:xfrm>
            <a:off x="594360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E3F2FD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7" name="Text 46"/>
          <p:cNvSpPr/>
          <p:nvPr/>
        </p:nvSpPr>
        <p:spPr>
          <a:xfrm>
            <a:off x="594360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</a:t>
            </a:r>
            <a:endParaRPr lang="en-US" sz="800" dirty="0"/>
          </a:p>
        </p:txBody>
      </p:sp>
      <p:sp>
        <p:nvSpPr>
          <p:cNvPr id="58" name="Text 47"/>
          <p:cNvSpPr/>
          <p:nvPr/>
        </p:nvSpPr>
        <p:spPr>
          <a:xfrm>
            <a:off x="704088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8CC"/>
                </a:solidFill>
              </a:rPr>
              <a:t>▶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7269480" y="3749040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00CC8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Text 49"/>
          <p:cNvSpPr/>
          <p:nvPr/>
        </p:nvSpPr>
        <p:spPr>
          <a:xfrm>
            <a:off x="7269480" y="3749040"/>
            <a:ext cx="114300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INTELLIGENCE CENTER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Analytics &amp; Strategic Decision Intelligence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COMMAND CENTER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594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640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822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$12.4M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594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84832" y="640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084832" y="822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$28.7M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84832" y="11887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03904" y="594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03904" y="640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Rate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803904" y="822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03904" y="11887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22976" y="594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22976" y="640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Score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522976" y="822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522976" y="11887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42048" y="594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42048" y="640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Rate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42048" y="822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42048" y="11887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17373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" y="1874520"/>
            <a:ext cx="320040" cy="320040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1828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8680" y="208483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Health Score, revenue trends, strategic KPIs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17373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10128" y="1874520"/>
            <a:ext cx="320040" cy="320040"/>
          </a:xfrm>
          <a:prstGeom prst="ellipse">
            <a:avLst/>
          </a:prstGeom>
          <a:solidFill>
            <a:srgbClr val="0088CC"/>
          </a:solidFill>
          <a:ln/>
        </p:spPr>
      </p:sp>
      <p:sp>
        <p:nvSpPr>
          <p:cNvPr id="31" name="Text 29"/>
          <p:cNvSpPr/>
          <p:nvPr/>
        </p:nvSpPr>
        <p:spPr>
          <a:xfrm>
            <a:off x="3703320" y="1828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Dashboard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703320" y="208483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velocity, rep performance, forecast accuracy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35040" y="17373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44768" y="1874520"/>
            <a:ext cx="320040" cy="320040"/>
          </a:xfrm>
          <a:prstGeom prst="ellipse">
            <a:avLst/>
          </a:prstGeom>
          <a:solidFill>
            <a:srgbClr val="00A3B4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1828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Dashboard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37960" y="208483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ROI, lead flow, attribution, MQL conversion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278892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" y="292608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28803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Dashboard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8680" y="313639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flow, burn rate, budget variance, P&amp;L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0" y="278892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310128" y="2926080"/>
            <a:ext cx="320040" cy="3200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3" name="Text 41"/>
          <p:cNvSpPr/>
          <p:nvPr/>
        </p:nvSpPr>
        <p:spPr>
          <a:xfrm>
            <a:off x="3703320" y="28803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Dashboard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703320" y="313639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Headcount, attrition, hiring funnel, engagement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035040" y="278892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1A2E4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144768" y="2926080"/>
            <a:ext cx="320040" cy="320040"/>
          </a:xfrm>
          <a:prstGeom prst="ellipse">
            <a:avLst/>
          </a:prstGeom>
          <a:solidFill>
            <a:srgbClr val="00CC88"/>
          </a:solidFill>
          <a:ln/>
        </p:spPr>
      </p:sp>
      <p:sp>
        <p:nvSpPr>
          <p:cNvPr id="47" name="Text 45"/>
          <p:cNvSpPr/>
          <p:nvPr/>
        </p:nvSpPr>
        <p:spPr>
          <a:xfrm>
            <a:off x="6537960" y="28803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Dashboard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37960" y="3136392"/>
            <a:ext cx="20116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CSAT, resolution time, ticket volume, SLA compliance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65760" y="388620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0D2847"/>
          </a:solidFill>
          <a:ln w="12700">
            <a:solidFill>
              <a:srgbClr val="00D4FF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864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HEALTH SCORE™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composite metric combining revenue health, customer satisfaction, operational efficiency,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engagement, and financial stability into one executive-level indicator.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858000" y="3931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4400" dirty="0"/>
          </a:p>
        </p:txBody>
      </p:sp>
      <p:sp>
        <p:nvSpPr>
          <p:cNvPr id="53" name="Text 51"/>
          <p:cNvSpPr/>
          <p:nvPr/>
        </p:nvSpPr>
        <p:spPr>
          <a:xfrm>
            <a:off x="7680960" y="4251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MATURITY MODEL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reporting to autonomous intelligence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09728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1051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37760" y="1051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reports, dashboards, KPI tracking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554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BBDE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8745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1828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it happen?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18288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analysis, drill-downs, correlation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90CA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265176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606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happen?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606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forecasting, trend analysis, risk scoring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3375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64B5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342900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Prescriptive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0604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we do?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37760" y="3383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models, scenario planning, recommendations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114800" y="3886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88CC"/>
                </a:solidFill>
              </a:rPr>
              <a:t>▼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0088CC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080" y="42062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A1628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" y="4206240"/>
            <a:ext cx="1828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06040" y="4160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system decide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37760" y="4160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Self-optimizing operations with human oversight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8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NEXUS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Everything. Synchronize Everything. Orchestrate Everything.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ECOSYSTEM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connectivity fabric with universal connectors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502920"/>
          </a:xfrm>
          <a:prstGeom prst="roundRect">
            <a:avLst>
              <a:gd name="adj" fmla="val 18182"/>
            </a:avLst>
          </a:prstGeom>
          <a:solidFill>
            <a:srgbClr val="0088C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241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&amp; GraphQL APIs with rate limiting, authentication, and versioning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3931920" cy="502920"/>
          </a:xfrm>
          <a:prstGeom prst="roundRect">
            <a:avLst>
              <a:gd name="adj" fmla="val 18182"/>
            </a:avLst>
          </a:prstGeom>
          <a:solidFill>
            <a:srgbClr val="00A3B4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642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Mesh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89280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event streaming with pub/sub architecture and guaranteed delivery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3931920" cy="502920"/>
          </a:xfrm>
          <a:prstGeom prst="roundRect">
            <a:avLst>
              <a:gd name="adj" fmla="val 18182"/>
            </a:avLst>
          </a:prstGeom>
          <a:solidFill>
            <a:srgbClr val="00CC8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3042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Transformation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ETL/ELT pipelines with schema mapping, validation, and enrichment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3931920" cy="502920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9443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Engine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1729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Bi-directional real-time synchronization with conflict resolution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097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MARKETPLACE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37760" y="150876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37760" y="150876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172200" y="150876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72200" y="150876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406640" y="150876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6640" y="150876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QuickBooks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937760" y="1947672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37760" y="1947672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Shopify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72200" y="1947672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72200" y="1947672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947672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406640" y="1947672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937760" y="2386584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937760" y="2386584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72200" y="2386584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72200" y="2386584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406640" y="2386584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406640" y="2386584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937760" y="2825496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2825496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172200" y="2825496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172200" y="2825496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406640" y="2825496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406640" y="2825496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HubSpot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937760" y="3264408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937760" y="3264408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172200" y="3264408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172200" y="3264408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406640" y="3264408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7406640" y="3264408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937760" y="370332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3776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172200" y="370332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17220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Twilio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7406640" y="370332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4066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Zapier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57200" y="42062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PRE-BUILT CONNECTORS  |  CUSTOM API BUILDER  |  WEBHOOK SUPPORT  |  iPaaS COMPATIBLE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BUSINESS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customer lifecycle powered by every BIOM and every level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007799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External Ecosystem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1887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86868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00A3B4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005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37560" y="14173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BIOM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0" y="11887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86868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0088CC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005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7920" y="14173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BIOM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6B35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" y="2834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BIOM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63240" y="2606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3756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7C3AED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3756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337560" y="2834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BIOM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26060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22860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0088AA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217920" y="2834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BIOM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70332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00CC8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57200" y="4251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BIOM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063240" y="40233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37560" y="370332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EC4899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33756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337560" y="4251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Success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40233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</a:rPr>
              <a:t>▶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370332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668800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2179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Advocate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217920" y="4251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BIOM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HORIZON 360?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differentiators that set us apart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0088C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115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Platform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+ ERP + HRMS + Commerce + AI in one unified system. No more integration nightmares.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09160" y="100584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92040" y="1188720"/>
            <a:ext cx="502920" cy="502920"/>
          </a:xfrm>
          <a:prstGeom prst="ellipse">
            <a:avLst/>
          </a:prstGeom>
          <a:solidFill>
            <a:srgbClr val="00A3B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801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32120" y="1115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Data Model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532120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database, one truth. Every department sees the same customer, the same deal, the same data.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42316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51460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350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Architecture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28016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not bolted on - it's built into every workflow, every decision, every interaction.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709160" y="224028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92040" y="2423160"/>
            <a:ext cx="502920" cy="502920"/>
          </a:xfrm>
          <a:prstGeom prst="ellipse">
            <a:avLst/>
          </a:prstGeom>
          <a:solidFill>
            <a:srgbClr val="00CC88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51460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32120" y="2350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Cross-BIOM Automation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53212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Sales closes, Finance invoices, Projects start, HR assigns - automatically.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57200" y="34747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749040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Health Score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280160" y="388620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metric that combines revenue, satisfaction, efficiency, and growth into executive clarity.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709160" y="3474720"/>
            <a:ext cx="4023360" cy="1051560"/>
          </a:xfrm>
          <a:prstGeom prst="roundRect">
            <a:avLst>
              <a:gd name="adj" fmla="val 8696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892040" y="3657600"/>
            <a:ext cx="502920" cy="50292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749040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53212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Scale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532120" y="3886200"/>
            <a:ext cx="3017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global enterprises: multi-currency, multi-language, multi-tenant, SOC 2 compliant.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scale, security, and global operations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97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 SLA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 availability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100584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1097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50ms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06040" y="1554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Latency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1783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edge network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097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Records/Sec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783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 throughput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03720" y="100584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10972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903720" y="15544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II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03720" y="17830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certified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5146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24328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68680" y="25603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Architecture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68680" y="27889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data with shared infrastructure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46120" y="25146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624328"/>
            <a:ext cx="201168" cy="20116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657600" y="25603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Data Residency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3657600" y="27889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where your data lives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6035040" y="25146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624328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46520" y="25603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 &amp; CCPA Compliance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446520" y="27889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privacy and consent tools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310128"/>
            <a:ext cx="201168" cy="20116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68680" y="3246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(RBAC)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68680" y="3474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permissions per user/role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3246120" y="32004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310128"/>
            <a:ext cx="201168" cy="20116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3657600" y="3246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&amp; MFA</a:t>
            </a:r>
            <a:endParaRPr lang="en-US" sz="1000" dirty="0"/>
          </a:p>
        </p:txBody>
      </p:sp>
      <p:sp>
        <p:nvSpPr>
          <p:cNvPr id="41" name="Text 34"/>
          <p:cNvSpPr/>
          <p:nvPr/>
        </p:nvSpPr>
        <p:spPr>
          <a:xfrm>
            <a:off x="3657600" y="3474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identity integration</a:t>
            </a:r>
            <a:endParaRPr lang="en-US" sz="800" dirty="0"/>
          </a:p>
        </p:txBody>
      </p:sp>
      <p:sp>
        <p:nvSpPr>
          <p:cNvPr id="42" name="Shape 35"/>
          <p:cNvSpPr/>
          <p:nvPr/>
        </p:nvSpPr>
        <p:spPr>
          <a:xfrm>
            <a:off x="6035040" y="3200400"/>
            <a:ext cx="260604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310128"/>
            <a:ext cx="201168" cy="201168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6446520" y="32461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Encryption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6446520" y="347472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 at rest, TLS 1.3 in transit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OPTIONS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097280"/>
            <a:ext cx="731520" cy="731520"/>
          </a:xfrm>
          <a:prstGeom prst="ellipse">
            <a:avLst/>
          </a:prstGeom>
          <a:solidFill>
            <a:srgbClr val="0088C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234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(SaaS)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2331720"/>
            <a:ext cx="2286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managed, auto-scaling, zero maintenance. Best for most organizations.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91840" y="9144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06240" y="1097280"/>
            <a:ext cx="731520" cy="731520"/>
          </a:xfrm>
          <a:prstGeom prst="ellipse">
            <a:avLst/>
          </a:prstGeom>
          <a:solidFill>
            <a:srgbClr val="00A3B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2344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918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74720" y="2331720"/>
            <a:ext cx="2286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on-premises with cloud compute. For regulated industries.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126480" y="9144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0" y="109728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23444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2648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09360" y="2331720"/>
            <a:ext cx="22860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control over infrastructure and data. For high-security environments.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4008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PRICING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CRM + 2 BIOMs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69748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69748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CRM + 5 BIOMs + AI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75488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75488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BIOMs + Advanced AI + Custom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81228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81228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+ Dedicated Support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ROI from day 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43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Sales Cycles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pipeline acceleration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143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29184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Manual Tasks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Cross-BIOM workflow automation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143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12648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TCO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 vs. 8+ point solutions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880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Retention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customer success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27432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91840" y="2880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29184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Reporting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unified analytics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27432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2880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12648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Onboarding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system for all departments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011680" cy="3474720"/>
          </a:xfrm>
          <a:prstGeom prst="roundRect">
            <a:avLst>
              <a:gd name="adj" fmla="val 4545"/>
            </a:avLst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1-4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463040" cy="0"/>
          </a:xfrm>
          <a:prstGeom prst="line">
            <a:avLst/>
          </a:prstGeom>
          <a:noFill/>
          <a:ln w="6350">
            <a:solidFill>
              <a:srgbClr val="B0C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94560"/>
            <a:ext cx="1645920" cy="2011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Core setup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migration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provisioning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workflows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3172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914400"/>
            <a:ext cx="2011680" cy="3474720"/>
          </a:xfrm>
          <a:prstGeom prst="roundRect">
            <a:avLst>
              <a:gd name="adj" fmla="val 4545"/>
            </a:avLst>
          </a:prstGeom>
          <a:solidFill>
            <a:srgbClr val="BBDEFB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005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5-8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834640" y="2011680"/>
            <a:ext cx="1463040" cy="0"/>
          </a:xfrm>
          <a:prstGeom prst="line">
            <a:avLst/>
          </a:prstGeom>
          <a:noFill/>
          <a:ln w="6350">
            <a:solidFill>
              <a:srgbClr val="B0C4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2194560"/>
            <a:ext cx="1645920" cy="2011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 activation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configuration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setup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62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2011680" cy="3474720"/>
          </a:xfrm>
          <a:prstGeom prst="roundRect">
            <a:avLst>
              <a:gd name="adj" fmla="val 4545"/>
            </a:avLst>
          </a:prstGeom>
          <a:solidFill>
            <a:srgbClr val="90CAF9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1005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9-12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029200" y="2011680"/>
            <a:ext cx="1463040" cy="0"/>
          </a:xfrm>
          <a:prstGeom prst="line">
            <a:avLst/>
          </a:prstGeom>
          <a:noFill/>
          <a:ln w="6350">
            <a:solidFill>
              <a:srgbClr val="B0C4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2194560"/>
            <a:ext cx="1645920" cy="2011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automation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analytics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training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tuning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72084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88CC"/>
                </a:solidFill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49440" y="914400"/>
            <a:ext cx="2011680" cy="3474720"/>
          </a:xfrm>
          <a:prstGeom prst="roundRect">
            <a:avLst>
              <a:gd name="adj" fmla="val 4545"/>
            </a:avLst>
          </a:prstGeom>
          <a:solidFill>
            <a:srgbClr val="0088CC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005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13+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94944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223760" y="2011680"/>
            <a:ext cx="1463040" cy="0"/>
          </a:xfrm>
          <a:prstGeom prst="line">
            <a:avLst/>
          </a:prstGeom>
          <a:noFill/>
          <a:ln w="6350">
            <a:solidFill>
              <a:srgbClr val="AABB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0" y="2194560"/>
            <a:ext cx="1645920" cy="2011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deployment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rollout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optimization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FRAMEWORK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2412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960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Success Manager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8680" y="1188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CSM for strategic guidance and quarterly business reviews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709160" y="9144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2412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20640" y="960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Enterprise Support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120640" y="1188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Phone, chat, and email support with guaranteed SLA response times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57200" y="16002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09928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16459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Academy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868680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On-demand training, certifications, and role-based learning paths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4709160" y="16002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709928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120640" y="16459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Services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120640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Expert-led onboarding, data migration, and custom configuration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457200" y="22860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95728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68680" y="2331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Community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868680" y="2560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documentation, SDKs, forums, and developer ecosystem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4709160" y="228600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0F7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95728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120640" y="2331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Advisory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5120640" y="2560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transformation consulting and platform optimization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2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ENTERPRISES WORLDWIDE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40080" y="37947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A2E4A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24"/>
          <p:cNvSpPr/>
          <p:nvPr/>
        </p:nvSpPr>
        <p:spPr>
          <a:xfrm>
            <a:off x="640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Type II</a:t>
            </a:r>
            <a:endParaRPr lang="en-US" sz="900" dirty="0"/>
          </a:p>
        </p:txBody>
      </p:sp>
      <p:sp>
        <p:nvSpPr>
          <p:cNvPr id="33" name="Shape 25"/>
          <p:cNvSpPr/>
          <p:nvPr/>
        </p:nvSpPr>
        <p:spPr>
          <a:xfrm>
            <a:off x="2286000" y="37947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A2E4A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26"/>
          <p:cNvSpPr/>
          <p:nvPr/>
        </p:nvSpPr>
        <p:spPr>
          <a:xfrm>
            <a:off x="228600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27001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3931920" y="37947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A2E4A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28"/>
          <p:cNvSpPr/>
          <p:nvPr/>
        </p:nvSpPr>
        <p:spPr>
          <a:xfrm>
            <a:off x="393192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 Ready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5577840" y="37947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A2E4A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557784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Eligible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7223760" y="37947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A2E4A"/>
          </a:solidFill>
          <a:ln/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Text 32"/>
          <p:cNvSpPr/>
          <p:nvPr/>
        </p:nvSpPr>
        <p:spPr>
          <a:xfrm>
            <a:off x="722376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 Uptime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1525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360 CRM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1440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3F2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Universal Business Operating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737360" y="2011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116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08960" y="2011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3832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80560" y="2011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7548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2011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1264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23760" y="20116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4FF"/>
                </a:solidFill>
              </a:rPr>
              <a:t>▶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98080" y="19202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00D4FF"/>
          </a:solidFill>
          <a:ln w="12700">
            <a:solidFill>
              <a:srgbClr val="2A4A6A"/>
            </a:solidFill>
            <a:prstDash val="solid"/>
          </a:ln>
          <a:effectLst>
            <a:outerShdw blurRad="508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14400" y="2743200"/>
            <a:ext cx="7315200" cy="1554480"/>
          </a:xfrm>
          <a:prstGeom prst="roundRect">
            <a:avLst>
              <a:gd name="adj" fmla="val 5882"/>
            </a:avLst>
          </a:prstGeom>
          <a:solidFill>
            <a:srgbClr val="0D2847"/>
          </a:solidFill>
          <a:ln w="12700">
            <a:solidFill>
              <a:srgbClr val="00D4FF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371600" y="28346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360 CRM transforms organizations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disconnected software ecosystems into
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self-optimizing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operating systems.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457200"/>
            <a:ext cx="4572000" cy="4114800"/>
          </a:xfrm>
          <a:prstGeom prst="ellipse">
            <a:avLst/>
          </a:prstGeom>
          <a:solidFill>
            <a:srgbClr val="0D2847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3F2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transform your business?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0" y="292608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/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www.horizon360crm.com  |  contact@horizon360crm.com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4206240"/>
            <a:ext cx="2743200" cy="365760"/>
          </a:xfrm>
          <a:prstGeom prst="roundRect">
            <a:avLst>
              <a:gd name="adj" fmla="val 25000"/>
            </a:avLst>
          </a:prstGeom>
          <a:solidFill>
            <a:srgbClr val="1A2E4A"/>
          </a:solidFill>
          <a:ln w="12700">
            <a:solidFill>
              <a:srgbClr val="2A4A6A"/>
            </a:solidFill>
            <a:prstDash val="solid"/>
          </a:ln>
          <a:effectLst>
            <a:outerShdw blurRad="76200" dist="254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360 CRM  |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3399</Words>
  <Application>Microsoft Office PowerPoint</Application>
  <PresentationFormat>On-screen Show (16:9)</PresentationFormat>
  <Paragraphs>919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Horizon 360 CRM - The Universal Business Operating System</dc:title>
  <dc:subject>PptxGenJS Presentation</dc:subject>
  <dc:creator>Horizon 360 CRM</dc:creator>
  <cp:lastModifiedBy>Kinshuk Sharma</cp:lastModifiedBy>
  <cp:revision>2</cp:revision>
  <dcterms:created xsi:type="dcterms:W3CDTF">2026-06-18T19:37:10Z</dcterms:created>
  <dcterms:modified xsi:type="dcterms:W3CDTF">2026-09-04T16:00:19Z</dcterms:modified>
</cp:coreProperties>
</file>